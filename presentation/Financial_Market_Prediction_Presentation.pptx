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6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7f8704320d4bc1" /><Relationship Type="http://schemas.openxmlformats.org/officeDocument/2006/relationships/extended-properties" Target="/docProps/app.xml" Id="Ra79a98dd78064ebf" /><Relationship Type="http://schemas.openxmlformats.org/officeDocument/2006/relationships/officeDocument" Target="/ppt/presentation.xml" Id="R92893177a8c048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d2ae9f61c049ea"/>
  </p:sldMasterIdLst>
  <p:notesMasterIdLst>
    <p:notesMasterId xmlns:r="http://schemas.openxmlformats.org/officeDocument/2006/relationships" r:id="Rfd4da89f6d6a42ad"/>
  </p:notesMasterIdLst>
  <p:sldIdLst>
    <p:sldId xmlns:r="http://schemas.openxmlformats.org/officeDocument/2006/relationships" id="256" r:id="Rb439499923bb4cab"/>
    <p:sldId xmlns:r="http://schemas.openxmlformats.org/officeDocument/2006/relationships" id="257" r:id="R80747cdcb2834881"/>
    <p:sldId xmlns:r="http://schemas.openxmlformats.org/officeDocument/2006/relationships" id="258" r:id="R2d4308f827624933"/>
    <p:sldId xmlns:r="http://schemas.openxmlformats.org/officeDocument/2006/relationships" id="259" r:id="Ref924ff4d39b4530"/>
    <p:sldId xmlns:r="http://schemas.openxmlformats.org/officeDocument/2006/relationships" id="260" r:id="R1cd7f85b9f064265"/>
    <p:sldId xmlns:r="http://schemas.openxmlformats.org/officeDocument/2006/relationships" id="261" r:id="Rfb24f218604f4617"/>
    <p:sldId xmlns:r="http://schemas.openxmlformats.org/officeDocument/2006/relationships" id="262" r:id="R8bca60c75f3448c9"/>
    <p:sldId xmlns:r="http://schemas.openxmlformats.org/officeDocument/2006/relationships" id="263" r:id="Rcb980e0a009044e4"/>
    <p:sldId xmlns:r="http://schemas.openxmlformats.org/officeDocument/2006/relationships" id="264" r:id="R57012a28e7fe4fcc"/>
    <p:sldId xmlns:r="http://schemas.openxmlformats.org/officeDocument/2006/relationships" id="265" r:id="Rc5cf7c3a6b6e40a3"/>
    <p:sldId xmlns:r="http://schemas.openxmlformats.org/officeDocument/2006/relationships" id="266" r:id="R0999aee77cec4477"/>
    <p:sldId xmlns:r="http://schemas.openxmlformats.org/officeDocument/2006/relationships" id="267" r:id="R3f446fb1f84d45c8"/>
    <p:sldId xmlns:r="http://schemas.openxmlformats.org/officeDocument/2006/relationships" id="268" r:id="Rc7ce1d0c4175403c"/>
    <p:sldId xmlns:r="http://schemas.openxmlformats.org/officeDocument/2006/relationships" id="269" r:id="R8df021e32d8e4d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8e3bd25ccc40a3" /><Relationship Type="http://schemas.openxmlformats.org/officeDocument/2006/relationships/slideMaster" Target="/ppt/slideMasters/slideMaster1.xml" Id="R21d2ae9f61c049ea" /><Relationship Type="http://schemas.openxmlformats.org/officeDocument/2006/relationships/notesMaster" Target="/ppt/notesMasters/notesMaster1.xml" Id="Rfd4da89f6d6a42ad" /><Relationship Type="http://schemas.openxmlformats.org/officeDocument/2006/relationships/presProps" Target="/ppt/presProps.xml" Id="R3f1d47bb2d624f9c" /><Relationship Type="http://schemas.openxmlformats.org/officeDocument/2006/relationships/tableStyles" Target="/ppt/tableStyles.xml" Id="R1d0494074aa64e10" /><Relationship Type="http://schemas.openxmlformats.org/officeDocument/2006/relationships/slide" Target="/ppt/slides/slide1.xml" Id="Rb439499923bb4cab" /><Relationship Type="http://schemas.openxmlformats.org/officeDocument/2006/relationships/slide" Target="/ppt/slides/slide2.xml" Id="R80747cdcb2834881" /><Relationship Type="http://schemas.openxmlformats.org/officeDocument/2006/relationships/slide" Target="/ppt/slides/slide3.xml" Id="R2d4308f827624933" /><Relationship Type="http://schemas.openxmlformats.org/officeDocument/2006/relationships/slide" Target="/ppt/slides/slide4.xml" Id="Ref924ff4d39b4530" /><Relationship Type="http://schemas.openxmlformats.org/officeDocument/2006/relationships/slide" Target="/ppt/slides/slide5.xml" Id="R1cd7f85b9f064265" /><Relationship Type="http://schemas.openxmlformats.org/officeDocument/2006/relationships/slide" Target="/ppt/slides/slide6.xml" Id="Rfb24f218604f4617" /><Relationship Type="http://schemas.openxmlformats.org/officeDocument/2006/relationships/slide" Target="/ppt/slides/slide7.xml" Id="R8bca60c75f3448c9" /><Relationship Type="http://schemas.openxmlformats.org/officeDocument/2006/relationships/slide" Target="/ppt/slides/slide8.xml" Id="Rcb980e0a009044e4" /><Relationship Type="http://schemas.openxmlformats.org/officeDocument/2006/relationships/slide" Target="/ppt/slides/slide9.xml" Id="R57012a28e7fe4fcc" /><Relationship Type="http://schemas.openxmlformats.org/officeDocument/2006/relationships/slide" Target="/ppt/slides/slide10.xml" Id="Rc5cf7c3a6b6e40a3" /><Relationship Type="http://schemas.openxmlformats.org/officeDocument/2006/relationships/slide" Target="/ppt/slides/slide11.xml" Id="R0999aee77cec4477" /><Relationship Type="http://schemas.openxmlformats.org/officeDocument/2006/relationships/slide" Target="/ppt/slides/slide12.xml" Id="R3f446fb1f84d45c8" /><Relationship Type="http://schemas.openxmlformats.org/officeDocument/2006/relationships/slide" Target="/ppt/slides/slide13.xml" Id="Rc7ce1d0c4175403c" /><Relationship Type="http://schemas.openxmlformats.org/officeDocument/2006/relationships/slide" Target="/ppt/slides/slide14.xml" Id="R8df021e32d8e4d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fdf8be80c846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a5d9b261cc4e48" /><Relationship Type="http://schemas.openxmlformats.org/officeDocument/2006/relationships/notesMaster" Target="/ppt/notesMasters/notesMaster1.xml" Id="Rdbcc6a98b12748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70be6af5c5453d" /><Relationship Type="http://schemas.openxmlformats.org/officeDocument/2006/relationships/notesMaster" Target="/ppt/notesMasters/notesMaster1.xml" Id="R0aa1396c561548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405c43d2424206" /><Relationship Type="http://schemas.openxmlformats.org/officeDocument/2006/relationships/notesMaster" Target="/ppt/notesMasters/notesMaster1.xml" Id="R13489faef7e54d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bdb98c8e0247d0" /><Relationship Type="http://schemas.openxmlformats.org/officeDocument/2006/relationships/notesMaster" Target="/ppt/notesMasters/notesMaster1.xml" Id="R1806e24544854e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5e9315e0704a9c" /><Relationship Type="http://schemas.openxmlformats.org/officeDocument/2006/relationships/notesMaster" Target="/ppt/notesMasters/notesMaster1.xml" Id="Rcf1c9333c9c340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aafc4eb1074123" /><Relationship Type="http://schemas.openxmlformats.org/officeDocument/2006/relationships/notesMaster" Target="/ppt/notesMasters/notesMaster1.xml" Id="Rbdf22ae0af9648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1979498665497f" /><Relationship Type="http://schemas.openxmlformats.org/officeDocument/2006/relationships/notesMaster" Target="/ppt/notesMasters/notesMaster1.xml" Id="R002eb11401cf48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049d9dbd0b4222" /><Relationship Type="http://schemas.openxmlformats.org/officeDocument/2006/relationships/notesMaster" Target="/ppt/notesMasters/notesMaster1.xml" Id="Rfe1a7e84fc9a4e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a417d5b1bd4828" /><Relationship Type="http://schemas.openxmlformats.org/officeDocument/2006/relationships/notesMaster" Target="/ppt/notesMasters/notesMaster1.xml" Id="R653cac6f23dd4c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7541ed714f4a8d" /><Relationship Type="http://schemas.openxmlformats.org/officeDocument/2006/relationships/notesMaster" Target="/ppt/notesMasters/notesMaster1.xml" Id="R979bdc138b6f45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91a758377549a4" /><Relationship Type="http://schemas.openxmlformats.org/officeDocument/2006/relationships/notesMaster" Target="/ppt/notesMasters/notesMaster1.xml" Id="Ra6b2397fd8d04d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7ae16725aa4589" /><Relationship Type="http://schemas.openxmlformats.org/officeDocument/2006/relationships/notesMaster" Target="/ppt/notesMasters/notesMaster1.xml" Id="R36e51a8e316741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e6f72c5a3f49c1" /><Relationship Type="http://schemas.openxmlformats.org/officeDocument/2006/relationships/notesMaster" Target="/ppt/notesMasters/notesMaster1.xml" Id="Rcc0c9c1cb08a46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7553bd3b441413a" /><Relationship Type="http://schemas.openxmlformats.org/officeDocument/2006/relationships/notesMaster" Target="/ppt/notesMasters/notesMaster1.xml" Id="Rb2cadd88e1554e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problem: next-day direction is noisy, so the project emphasizes honest out-of-time evaluation rather than a trading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README and deployed Streamlit application</a:t>
            </a:r>
          </a:p>
          <a:p xmlns:a="http://schemas.openxmlformats.org/drawingml/2006/main">
            <a:r>
              <a:t>- Project notebooks 01-03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chronological splitting matters: future market observations cannot be allowed to influence training or model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notebooks/01_data_collection_preprocessing.ipynb</a:t>
            </a:r>
          </a:p>
          <a:p xmlns:a="http://schemas.openxmlformats.org/drawingml/2006/main">
            <a:r>
              <a:t>- notebooks/03_model_training_evaluation.ipynb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 and emphasize that every downstream artifact is generated from the preceding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folder structure and notebooks 01-03</a:t>
            </a:r>
          </a:p>
          <a:p xmlns:a="http://schemas.openxmlformats.org/drawingml/2006/main">
            <a:r>
              <a:t>- dashboard/app.py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moderate class imbalance and why no-news days were retained instead of being dropped.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data/processed/AAPL_modeling_dataset.csv</a:t>
            </a:r>
          </a:p>
          <a:p xmlns:a="http://schemas.openxmlformats.org/drawingml/2006/main">
            <a:r>
              <a:t>- notebooks/02_sentiment_analysis_feature_engineering.ipynb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this score evaluates headline sentiment classification, not stock-movement prediction.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notebooks/02_sentiment_analysis_feature_engineering.ipynb</a:t>
            </a:r>
          </a:p>
          <a:p xmlns:a="http://schemas.openxmlformats.org/drawingml/2006/main">
            <a:r>
              <a:t>- models/financial_sentiment_pipeline.joblib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stationarity in plain language: the model should learn repeatable relationships, not that AAPL's nominal price rose over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notebooks/01_data_collection_preprocessing.ipynb</a:t>
            </a:r>
          </a:p>
          <a:p xmlns:a="http://schemas.openxmlformats.org/drawingml/2006/main">
            <a:r>
              <a:t>- notebooks/03_model_training_evaluation.ipynb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the dates and state that the model never saw the test period during tuning.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notebooks/03_model_training_evaluation.ipynb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these as successful scores. The important decision was to diagnose regime and feature-group sensitivity honestly.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reports/stationary_model_validation_comparison.csv</a:t>
            </a:r>
          </a:p>
          <a:p xmlns:a="http://schemas.openxmlformats.org/drawingml/2006/main">
            <a:r>
              <a:t>- notebooks/03_model_training_evaluation.ipynb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the selection rule was set before final test evaluation. Simplicity and transparency were advantages, but validation performance remained weak.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reports/training_window_feature_diagnostics.csv</a:t>
            </a:r>
          </a:p>
          <a:p xmlns:a="http://schemas.openxmlformats.org/drawingml/2006/main">
            <a:r>
              <a:t>- models/aapl_movement_logistic_model.joblib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limitation directly: the result is not production-grade and does not justify a trading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reports/final_test_predictions.csv</a:t>
            </a:r>
          </a:p>
          <a:p xmlns:a="http://schemas.openxmlformats.org/drawingml/2006/main">
            <a:r>
              <a:t>- outputs/figures/final_model_evaluation.png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SHAP simply: it decomposes how much each feature moves the model away from its baseline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reports/final_model_shap_importance.csv</a:t>
            </a:r>
          </a:p>
          <a:p xmlns:a="http://schemas.openxmlformats.org/drawingml/2006/main">
            <a:r>
              <a:t>- outputs/figures/final_model_shap_summary.png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key distinction: importance measures influence, while ablation measures whether that influence helps out-of-sample performance.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reports/sentiment_ablation_comparison.csv</a:t>
            </a:r>
          </a:p>
          <a:p xmlns:a="http://schemas.openxmlformats.org/drawingml/2006/main">
            <a:r>
              <a:t>- reports/sentiment_features_shap_impact.csv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live app to demonstrate the prediction probability, then navigate to model performance and explainability.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dashboard/app.py</a:t>
            </a:r>
          </a:p>
          <a:p xmlns:a="http://schemas.openxmlformats.org/drawingml/2006/main">
            <a:r>
              <a:t>- Live Streamlit application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 question: there was weak signal, not reliable predictability. Then offer the concrete next research steps.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evaluation report</a:t>
            </a:r>
          </a:p>
          <a:p xmlns:a="http://schemas.openxmlformats.org/drawingml/2006/main">
            <a:r>
              <a:t>- Project notebooks and deployed application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08b9300d8b46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60c4421ce4408a" /><Relationship Type="http://schemas.openxmlformats.org/officeDocument/2006/relationships/slideLayout" Target="/ppt/slideLayouts/slideLayout1.xml" Id="R0e3583f6303740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3583f6303740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d1f9e76d84456" /><Relationship Type="http://schemas.openxmlformats.org/officeDocument/2006/relationships/image" Target="/ppt/media/image.png" Id="R91ad09fa49b04e9c" /><Relationship Type="http://schemas.openxmlformats.org/officeDocument/2006/relationships/notesSlide" Target="/ppt/notesSlides/notesSlide1.xml" Id="Rcfdcc174d60641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f37235fbe4875" /><Relationship Type="http://schemas.openxmlformats.org/officeDocument/2006/relationships/notesSlide" Target="/ppt/notesSlides/notesSlide2.xml" Id="R6fb5f616f44b4d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437b779b941ee" /><Relationship Type="http://schemas.openxmlformats.org/officeDocument/2006/relationships/notesSlide" Target="/ppt/notesSlides/notesSlide3.xml" Id="Rf48a33e5fe8445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21590d144485b" /><Relationship Type="http://schemas.openxmlformats.org/officeDocument/2006/relationships/chart" Target="/ppt/slides/charts/chart1.xml" Id="Rf25b6d0125d243b6" /><Relationship Type="http://schemas.openxmlformats.org/officeDocument/2006/relationships/notesSlide" Target="/ppt/notesSlides/notesSlide4.xml" Id="R78ead88e483f45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fe714fb384dfe" /><Relationship Type="http://schemas.openxmlformats.org/officeDocument/2006/relationships/chart" Target="/ppt/slides/charts/chart2.xml" Id="R7e65c93c32014fc8" /><Relationship Type="http://schemas.openxmlformats.org/officeDocument/2006/relationships/notesSlide" Target="/ppt/notesSlides/notesSlide5.xml" Id="Ra457f741ad5248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935055e614f0e" /><Relationship Type="http://schemas.openxmlformats.org/officeDocument/2006/relationships/notesSlide" Target="/ppt/notesSlides/notesSlide6.xml" Id="R7349aaeb116c44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584962fc54ba8" /><Relationship Type="http://schemas.openxmlformats.org/officeDocument/2006/relationships/notesSlide" Target="/ppt/notesSlides/notesSlide7.xml" Id="Rf34b1479168547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8dd509f1f4ed3" /><Relationship Type="http://schemas.openxmlformats.org/officeDocument/2006/relationships/chart" Target="/ppt/slides/charts/chart3.xml" Id="Rd9f32abb71e5498f" /><Relationship Type="http://schemas.openxmlformats.org/officeDocument/2006/relationships/notesSlide" Target="/ppt/notesSlides/notesSlide8.xml" Id="R2fefbae8f4dd42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7ebbffb3b4624" /><Relationship Type="http://schemas.openxmlformats.org/officeDocument/2006/relationships/notesSlide" Target="/ppt/notesSlides/notesSlide9.xml" Id="R45d46f90839d41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e02b3e22b4af7" /><Relationship Type="http://schemas.openxmlformats.org/officeDocument/2006/relationships/chart" Target="/ppt/slides/charts/chart4.xml" Id="R61901e83fbbe4b8a" /><Relationship Type="http://schemas.openxmlformats.org/officeDocument/2006/relationships/notesSlide" Target="/ppt/notesSlides/notesSlide10.xml" Id="R80c27aa273544d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ad3b857c84b0e" /><Relationship Type="http://schemas.openxmlformats.org/officeDocument/2006/relationships/chart" Target="/ppt/slides/charts/chart5.xml" Id="R5ee651cbf9d1411c" /><Relationship Type="http://schemas.openxmlformats.org/officeDocument/2006/relationships/notesSlide" Target="/ppt/notesSlides/notesSlide11.xml" Id="Rf0d6ebca93c644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e8bc2f27943ff" /><Relationship Type="http://schemas.openxmlformats.org/officeDocument/2006/relationships/chart" Target="/ppt/slides/charts/chart6.xml" Id="Rc976442f0e344893" /><Relationship Type="http://schemas.openxmlformats.org/officeDocument/2006/relationships/notesSlide" Target="/ppt/notesSlides/notesSlide12.xml" Id="R4b6ee09d70c640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ad9cce4494a62" /><Relationship Type="http://schemas.openxmlformats.org/officeDocument/2006/relationships/image" Target="/ppt/media/image2.png" Id="R007fe01fdb944a0e" /><Relationship Type="http://schemas.openxmlformats.org/officeDocument/2006/relationships/notesSlide" Target="/ppt/notesSlides/notesSlide13.xml" Id="R4881e5b9bb524f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2211780f74537" /><Relationship Type="http://schemas.openxmlformats.org/officeDocument/2006/relationships/notesSlide" Target="/ppt/notesSlides/notesSlide14.xml" Id="R5194c174b0664ee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Target days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2"/>
              <c:pt idx="0">
                <c:v>Down</c:v>
              </c:pt>
              <c:pt idx="1">
                <c:v>Up</c:v>
              </c:pt>
            </c:strLit>
          </c:cat>
          <c:val>
            <c:numLit>
              <c:formatCode>General</c:formatCode>
              <c:ptCount val="2"/>
              <c:pt idx="0">
                <c:v>1025</c:v>
              </c:pt>
              <c:pt idx="1">
                <c:v>1185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4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2"/>
              <c:pt idx="0">
                <c:v>Validation</c:v>
              </c:pt>
              <c:pt idx="1">
                <c:v>Final test</c:v>
              </c:pt>
            </c:strLit>
          </c:cat>
          <c:val>
            <c:numLit>
              <c:formatCode>0.0</c:formatCode>
              <c:ptCount val="2"/>
              <c:pt idx="0">
                <c:v>75.45</c:v>
              </c:pt>
              <c:pt idx="1">
                <c:v>80.03</c:v>
              </c:pt>
            </c:numLit>
          </c:val>
        </c:ser>
        <c:ser>
          <c:idx val="1"/>
          <c:order val="1"/>
          <c:tx>
            <c:v>Macro F1</c:v>
          </c:tx>
          <c:spPr>
            <a:solidFill xmlns:a="http://schemas.openxmlformats.org/drawingml/2006/main">
              <a:srgbClr val="0F766E"/>
            </a:solidFill>
          </c:spPr>
          <c:cat>
            <c:strLit>
              <c:ptCount val="2"/>
              <c:pt idx="0">
                <c:v>Validation</c:v>
              </c:pt>
              <c:pt idx="1">
                <c:v>Final test</c:v>
              </c:pt>
            </c:strLit>
          </c:cat>
          <c:val>
            <c:numLit>
              <c:formatCode>0.0</c:formatCode>
              <c:ptCount val="2"/>
              <c:pt idx="0">
                <c:v>70.22</c:v>
              </c:pt>
              <c:pt idx="1">
                <c:v>76.87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111827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4"/>
              <c:pt idx="0">
                <c:v>Logistic</c:v>
              </c:pt>
              <c:pt idx="1">
                <c:v>Random Forest</c:v>
              </c:pt>
              <c:pt idx="2">
                <c:v>XGBoost</c:v>
              </c:pt>
              <c:pt idx="3">
                <c:v>LightGBM</c:v>
              </c:pt>
            </c:strLit>
          </c:cat>
          <c:val>
            <c:numLit>
              <c:formatCode>General</c:formatCode>
              <c:ptCount val="4"/>
              <c:pt idx="0">
                <c:v>46.53</c:v>
              </c:pt>
              <c:pt idx="1">
                <c:v>48.34</c:v>
              </c:pt>
              <c:pt idx="2">
                <c:v>47.13</c:v>
              </c:pt>
              <c:pt idx="3">
                <c:v>46.53</c:v>
              </c:pt>
            </c:numLit>
          </c:val>
        </c:ser>
        <c:ser>
          <c:idx val="1"/>
          <c:order val="1"/>
          <c:tx>
            <c:v>F1-score</c:v>
          </c:tx>
          <c:spPr>
            <a:solidFill xmlns:a="http://schemas.openxmlformats.org/drawingml/2006/main">
              <a:srgbClr val="0F766E"/>
            </a:solidFill>
          </c:spPr>
          <c:cat>
            <c:strLit>
              <c:ptCount val="4"/>
              <c:pt idx="0">
                <c:v>Logistic</c:v>
              </c:pt>
              <c:pt idx="1">
                <c:v>Random Forest</c:v>
              </c:pt>
              <c:pt idx="2">
                <c:v>XGBoost</c:v>
              </c:pt>
              <c:pt idx="3">
                <c:v>LightGBM</c:v>
              </c:pt>
            </c:strLit>
          </c:cat>
          <c:val>
            <c:numLit>
              <c:formatCode>General</c:formatCode>
              <c:ptCount val="4"/>
              <c:pt idx="0">
                <c:v>38.33</c:v>
              </c:pt>
              <c:pt idx="1">
                <c:v>40</c:v>
              </c:pt>
              <c:pt idx="2">
                <c:v>51.52</c:v>
              </c:pt>
              <c:pt idx="3">
                <c:v>39.59</c:v>
              </c:pt>
            </c:numLit>
          </c:val>
        </c:ser>
        <c:ser>
          <c:idx val="2"/>
          <c:order val="2"/>
          <c:tx>
            <c:v>ROC-AUC</c:v>
          </c:tx>
          <c:spPr>
            <a:solidFill xmlns:a="http://schemas.openxmlformats.org/drawingml/2006/main">
              <a:srgbClr val="7C3AED"/>
            </a:solidFill>
          </c:spPr>
          <c:cat>
            <c:strLit>
              <c:ptCount val="4"/>
              <c:pt idx="0">
                <c:v>Logistic</c:v>
              </c:pt>
              <c:pt idx="1">
                <c:v>Random Forest</c:v>
              </c:pt>
              <c:pt idx="2">
                <c:v>XGBoost</c:v>
              </c:pt>
              <c:pt idx="3">
                <c:v>LightGBM</c:v>
              </c:pt>
            </c:strLit>
          </c:cat>
          <c:val>
            <c:numLit>
              <c:formatCode>General</c:formatCode>
              <c:ptCount val="4"/>
              <c:pt idx="0">
                <c:v>47.56</c:v>
              </c:pt>
              <c:pt idx="1">
                <c:v>46.2</c:v>
              </c:pt>
              <c:pt idx="2">
                <c:v>45.53</c:v>
              </c:pt>
              <c:pt idx="3">
                <c:v>45.24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111827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Final test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Accuracy</c:v>
              </c:pt>
              <c:pt idx="1">
                <c:v>Precision</c:v>
              </c:pt>
              <c:pt idx="2">
                <c:v>Recall</c:v>
              </c:pt>
              <c:pt idx="3">
                <c:v>F1</c:v>
              </c:pt>
              <c:pt idx="4">
                <c:v>ROC-AUC</c:v>
              </c:pt>
            </c:strLit>
          </c:cat>
          <c:val>
            <c:numLit>
              <c:formatCode>General</c:formatCode>
              <c:ptCount val="5"/>
              <c:pt idx="0">
                <c:v>55.42</c:v>
              </c:pt>
              <c:pt idx="1">
                <c:v>58.74</c:v>
              </c:pt>
              <c:pt idx="2">
                <c:v>65.76</c:v>
              </c:pt>
              <c:pt idx="3">
                <c:v>62.05</c:v>
              </c:pt>
              <c:pt idx="4">
                <c:v>53.82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7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Mean |SHAP|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8"/>
              <c:pt idx="0">
                <c:v>BB Position</c:v>
              </c:pt>
              <c:pt idx="1">
                <c:v>RSI Norm.</c:v>
              </c:pt>
              <c:pt idx="2">
                <c:v>Daily Return</c:v>
              </c:pt>
              <c:pt idx="3">
                <c:v>Month Cos</c:v>
              </c:pt>
              <c:pt idx="4">
                <c:v>Close vs MA5</c:v>
              </c:pt>
              <c:pt idx="5">
                <c:v>Close vs MA10</c:v>
              </c:pt>
              <c:pt idx="6">
                <c:v>Month Sin</c:v>
              </c:pt>
              <c:pt idx="7">
                <c:v>Volatility 10</c:v>
              </c:pt>
            </c:strLit>
          </c:cat>
          <c:val>
            <c:numLit>
              <c:formatCode>General</c:formatCode>
              <c:ptCount val="8"/>
              <c:pt idx="0">
                <c:v>242.4</c:v>
              </c:pt>
              <c:pt idx="1">
                <c:v>93.9</c:v>
              </c:pt>
              <c:pt idx="2">
                <c:v>85.6</c:v>
              </c:pt>
              <c:pt idx="3">
                <c:v>72.1</c:v>
              </c:pt>
              <c:pt idx="4">
                <c:v>64.3</c:v>
              </c:pt>
              <c:pt idx="5">
                <c:v>62.9</c:v>
              </c:pt>
              <c:pt idx="6">
                <c:v>58.7</c:v>
              </c:pt>
              <c:pt idx="7">
                <c:v>50.6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8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7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Market only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Accuracy</c:v>
              </c:pt>
              <c:pt idx="1">
                <c:v>Precision</c:v>
              </c:pt>
              <c:pt idx="2">
                <c:v>Recall</c:v>
              </c:pt>
              <c:pt idx="3">
                <c:v>F1</c:v>
              </c:pt>
              <c:pt idx="4">
                <c:v>ROC-AUC</c:v>
              </c:pt>
            </c:strLit>
          </c:cat>
          <c:val>
            <c:numLit>
              <c:formatCode>General</c:formatCode>
              <c:ptCount val="5"/>
              <c:pt idx="0">
                <c:v>55.42</c:v>
              </c:pt>
              <c:pt idx="1">
                <c:v>58.74</c:v>
              </c:pt>
              <c:pt idx="2">
                <c:v>65.76</c:v>
              </c:pt>
              <c:pt idx="3">
                <c:v>62.05</c:v>
              </c:pt>
              <c:pt idx="4">
                <c:v>53.82</c:v>
              </c:pt>
            </c:numLit>
          </c:val>
        </c:ser>
        <c:ser>
          <c:idx val="1"/>
          <c:order val="1"/>
          <c:tx>
            <c:v>Market + sentiment</c:v>
          </c:tx>
          <c:spPr>
            <a:solidFill xmlns:a="http://schemas.openxmlformats.org/drawingml/2006/main">
              <a:srgbClr val="A8B5C8"/>
            </a:solidFill>
          </c:spPr>
          <c:cat>
            <c:strLit>
              <c:ptCount val="5"/>
              <c:pt idx="0">
                <c:v>Accuracy</c:v>
              </c:pt>
              <c:pt idx="1">
                <c:v>Precision</c:v>
              </c:pt>
              <c:pt idx="2">
                <c:v>Recall</c:v>
              </c:pt>
              <c:pt idx="3">
                <c:v>F1</c:v>
              </c:pt>
              <c:pt idx="4">
                <c:v>ROC-AUC</c:v>
              </c:pt>
            </c:strLit>
          </c:cat>
          <c:val>
            <c:numLit>
              <c:formatCode>General</c:formatCode>
              <c:ptCount val="5"/>
              <c:pt idx="0">
                <c:v>51.2</c:v>
              </c:pt>
              <c:pt idx="1">
                <c:v>55.34</c:v>
              </c:pt>
              <c:pt idx="2">
                <c:v>61.96</c:v>
              </c:pt>
              <c:pt idx="3">
                <c:v>58.46</c:v>
              </c:pt>
              <c:pt idx="4">
                <c:v>49.2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7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111827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05DD4B6-D85F-4412-888D-24088D69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1950"/>
            <a:ext cx="11410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Financial Market Movement Prediction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DCE2C5B-974A-4A3F-8438-F8F38023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95500"/>
            <a:ext cx="533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Using News Sentiment and Market Data</a:t>
            </a:r>
          </a:p>
        </p:txBody>
      </p:sp>
      <p:sp>
        <p:nvSpPr>
          <p:cNvPr id="3" name="cover-detail">
            <a:extLst xmlns:a="http://schemas.openxmlformats.org/drawingml/2006/main">
              <a:ext uri="{FF2B5EF4-FFF2-40B4-BE49-F238E27FC236}">
                <a16:creationId xmlns:a16="http://schemas.microsoft.com/office/drawing/2014/main" id="{44ABD4CD-39D0-4A85-B389-A8325033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90875"/>
            <a:ext cx="52387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Apple Inc. (AAPL)</a:t>
            </a:r>
          </a:p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End-to-end data science and machine learning project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Ragini Boya | August 2026</a:t>
            </a:r>
          </a:p>
        </p:txBody>
      </p:sp>
      <p:sp>
        <p:nvSpPr>
          <p:cNvPr id="4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2CB9F692-2F4C-432C-9CE1-6D4D3F10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81125"/>
            <a:ext cx="5534025" cy="46482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d09fa49b04e9c"/>
          <a:stretch xmlns:a="http://schemas.openxmlformats.org/drawingml/2006/main"/>
        </p:blipFill>
        <p:spPr>
          <a:xfrm xmlns:a="http://schemas.openxmlformats.org/drawingml/2006/main">
            <a:off x="6400800" y="2224219"/>
            <a:ext cx="5267325" cy="2962012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5FCD5877-3BE3-4FB0-B7CE-920A8219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563EB"/>
                </a:solidFill>
                <a:latin typeface="Arial"/>
                <a:ea typeface="Arial"/>
                <a:cs typeface="Arial"/>
              </a:rPr>
              <a:t>GitHub: raginiboya/financial-market-prediction</a:t>
            </a:r>
          </a:p>
        </p:txBody>
      </p:sp>
      <p:sp>
        <p:nvSpPr>
          <p:cNvPr id="7" name="cover-page">
            <a:extLst xmlns:a="http://schemas.openxmlformats.org/drawingml/2006/main">
              <a:ext uri="{FF2B5EF4-FFF2-40B4-BE49-F238E27FC236}">
                <a16:creationId xmlns:a16="http://schemas.microsoft.com/office/drawing/2014/main" id="{382CCC6F-8234-4F30-BA3E-A143A6DD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77375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2">
            <a:extLst xmlns:a="http://schemas.openxmlformats.org/drawingml/2006/main">
              <a:ext uri="{FF2B5EF4-FFF2-40B4-BE49-F238E27FC236}">
                <a16:creationId xmlns:a16="http://schemas.microsoft.com/office/drawing/2014/main" id="{74797CB4-1DBB-446D-8FA2-2B34F3F1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14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narrow question kept the project testable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5AACD4A1-FBE0-41B7-A7EB-EE2AE66A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footer-2">
            <a:extLst xmlns:a="http://schemas.openxmlformats.org/drawingml/2006/main">
              <a:ext uri="{FF2B5EF4-FFF2-40B4-BE49-F238E27FC236}">
                <a16:creationId xmlns:a16="http://schemas.microsoft.com/office/drawing/2014/main" id="{8BADB123-9C30-4FC4-AAB4-126DAD9D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947A7436-AFBF-41E3-8491-5E4D03E9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AAPL MARKET MOVEMENT PREDICTION</a:t>
            </a:r>
          </a:p>
        </p:txBody>
      </p:sp>
      <p:sp>
        <p:nvSpPr>
          <p:cNvPr id="5" name="objective-question">
            <a:extLst xmlns:a="http://schemas.openxmlformats.org/drawingml/2006/main">
              <a:ext uri="{FF2B5EF4-FFF2-40B4-BE49-F238E27FC236}">
                <a16:creationId xmlns:a16="http://schemas.microsoft.com/office/drawing/2014/main" id="{3BC0B109-C592-45CE-AE08-FCCD8479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71625"/>
            <a:ext cx="55340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Can information available today predict whether AAPL closes higher on the next trading day?</a:t>
            </a:r>
          </a:p>
        </p:txBody>
      </p:sp>
      <p:sp>
        <p:nvSpPr>
          <p:cNvPr id="6" name="objective-detail">
            <a:extLst xmlns:a="http://schemas.openxmlformats.org/drawingml/2006/main">
              <a:ext uri="{FF2B5EF4-FFF2-40B4-BE49-F238E27FC236}">
                <a16:creationId xmlns:a16="http://schemas.microsoft.com/office/drawing/2014/main" id="{6D854C44-9566-4260-9FE1-AF3038E3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52750"/>
            <a:ext cx="55340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Target 1: Next_Close &gt; Close</a:t>
            </a:r>
          </a:p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Target 0: Next_Close &lt;= Close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The test set remained untouched until the model configuration was locked.</a:t>
            </a:r>
          </a:p>
        </p:txBody>
      </p:sp>
      <p:sp>
        <p:nvSpPr>
          <p:cNvPr id="7" name="objective-dot-0">
            <a:extLst xmlns:a="http://schemas.openxmlformats.org/drawingml/2006/main">
              <a:ext uri="{FF2B5EF4-FFF2-40B4-BE49-F238E27FC236}">
                <a16:creationId xmlns:a16="http://schemas.microsoft.com/office/drawing/2014/main" id="{3CDF8031-B670-4EE1-86B6-47778F35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57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bjective-label-0">
            <a:extLst xmlns:a="http://schemas.openxmlformats.org/drawingml/2006/main">
              <a:ext uri="{FF2B5EF4-FFF2-40B4-BE49-F238E27FC236}">
                <a16:creationId xmlns:a16="http://schemas.microsoft.com/office/drawing/2014/main" id="{148E3077-BBB1-4EF4-A1BF-F62FD420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Binary next-day target</a:t>
            </a:r>
          </a:p>
        </p:txBody>
      </p:sp>
      <p:sp>
        <p:nvSpPr>
          <p:cNvPr id="9" name="objective-dot-1">
            <a:extLst xmlns:a="http://schemas.openxmlformats.org/drawingml/2006/main">
              <a:ext uri="{FF2B5EF4-FFF2-40B4-BE49-F238E27FC236}">
                <a16:creationId xmlns:a16="http://schemas.microsoft.com/office/drawing/2014/main" id="{0077A312-5BE9-4569-B8A9-1521906C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24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bjective-label-1">
            <a:extLst xmlns:a="http://schemas.openxmlformats.org/drawingml/2006/main">
              <a:ext uri="{FF2B5EF4-FFF2-40B4-BE49-F238E27FC236}">
                <a16:creationId xmlns:a16="http://schemas.microsoft.com/office/drawing/2014/main" id="{61387211-2237-4B15-9DCD-14252522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480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No random time shuffling</a:t>
            </a:r>
          </a:p>
        </p:txBody>
      </p:sp>
      <p:sp>
        <p:nvSpPr>
          <p:cNvPr id="11" name="objective-dot-2">
            <a:extLst xmlns:a="http://schemas.openxmlformats.org/drawingml/2006/main">
              <a:ext uri="{FF2B5EF4-FFF2-40B4-BE49-F238E27FC236}">
                <a16:creationId xmlns:a16="http://schemas.microsoft.com/office/drawing/2014/main" id="{27147540-8D18-486F-82F6-1D3CBC86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90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bjective-label-2">
            <a:extLst xmlns:a="http://schemas.openxmlformats.org/drawingml/2006/main">
              <a:ext uri="{FF2B5EF4-FFF2-40B4-BE49-F238E27FC236}">
                <a16:creationId xmlns:a16="http://schemas.microsoft.com/office/drawing/2014/main" id="{30C92D7B-2362-454B-82E2-5BDC46A0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147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Chronological validation</a:t>
            </a:r>
          </a:p>
        </p:txBody>
      </p:sp>
      <p:sp>
        <p:nvSpPr>
          <p:cNvPr id="13" name="objective-dot-3">
            <a:extLst xmlns:a="http://schemas.openxmlformats.org/drawingml/2006/main">
              <a:ext uri="{FF2B5EF4-FFF2-40B4-BE49-F238E27FC236}">
                <a16:creationId xmlns:a16="http://schemas.microsoft.com/office/drawing/2014/main" id="{29440C81-160A-4EF2-BAE4-41D4FA16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57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label-3">
            <a:extLst xmlns:a="http://schemas.openxmlformats.org/drawingml/2006/main">
              <a:ext uri="{FF2B5EF4-FFF2-40B4-BE49-F238E27FC236}">
                <a16:creationId xmlns:a16="http://schemas.microsoft.com/office/drawing/2014/main" id="{C5F58EF1-FC18-4E99-AAD7-42A654A5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815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Final held-out test</a:t>
            </a:r>
          </a:p>
        </p:txBody>
      </p:sp>
      <p:sp>
        <p:nvSpPr>
          <p:cNvPr id="15" name="objective-dot-4">
            <a:extLst xmlns:a="http://schemas.openxmlformats.org/drawingml/2006/main">
              <a:ext uri="{FF2B5EF4-FFF2-40B4-BE49-F238E27FC236}">
                <a16:creationId xmlns:a16="http://schemas.microsoft.com/office/drawing/2014/main" id="{0D2DFA5D-40B5-4A14-B207-CDDE6DFD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24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bjective-label-4">
            <a:extLst xmlns:a="http://schemas.openxmlformats.org/drawingml/2006/main">
              <a:ext uri="{FF2B5EF4-FFF2-40B4-BE49-F238E27FC236}">
                <a16:creationId xmlns:a16="http://schemas.microsoft.com/office/drawing/2014/main" id="{08A24FE2-F665-494F-8C2F-914E5A53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482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Educational, not financial advice</a:t>
            </a:r>
          </a:p>
        </p:txBody>
      </p:sp>
    </p:spTree>
    <p:extLst>
      <p:ext uri="{BB962C8B-B14F-4D97-AF65-F5344CB8AC3E}">
        <p14:creationId xmlns:p14="http://schemas.microsoft.com/office/powerpoint/2010/main" val="11260121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-3">
            <a:extLst xmlns:a="http://schemas.openxmlformats.org/drawingml/2006/main">
              <a:ext uri="{FF2B5EF4-FFF2-40B4-BE49-F238E27FC236}">
                <a16:creationId xmlns:a16="http://schemas.microsoft.com/office/drawing/2014/main" id="{6C961BE5-3716-4D3C-954C-8713FDB0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14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workflow linked raw data to an explainable app</a:t>
            </a:r>
          </a:p>
        </p:txBody>
      </p:sp>
      <p:sp>
        <p:nvSpPr>
          <p:cNvPr id="2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BABA92DD-3477-4A8A-BABA-1359A397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footer-3">
            <a:extLst xmlns:a="http://schemas.openxmlformats.org/drawingml/2006/main">
              <a:ext uri="{FF2B5EF4-FFF2-40B4-BE49-F238E27FC236}">
                <a16:creationId xmlns:a16="http://schemas.microsoft.com/office/drawing/2014/main" id="{755414E4-0C1D-4175-9A21-F2333755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C9CF67AF-D933-48F0-B094-26950464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AAPL MARKET MOVEMENT PREDICTION</a:t>
            </a:r>
          </a:p>
        </p:txBody>
      </p:sp>
      <p:sp>
        <p:nvSpPr>
          <p:cNvPr id="5" name="pipeline-sub">
            <a:extLst xmlns:a="http://schemas.openxmlformats.org/drawingml/2006/main">
              <a:ext uri="{FF2B5EF4-FFF2-40B4-BE49-F238E27FC236}">
                <a16:creationId xmlns:a16="http://schemas.microsoft.com/office/drawing/2014/main" id="{B2FCFC69-5812-45A9-B612-EFBEA779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858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Five connected stages produced reproducible data, model and deployment artifacts.</a:t>
            </a:r>
          </a:p>
        </p:txBody>
      </p:sp>
      <p:sp>
        <p:nvSpPr>
          <p:cNvPr id="6" name="pipeline-connector-0">
            <a:extLst xmlns:a="http://schemas.openxmlformats.org/drawingml/2006/main">
              <a:ext uri="{FF2B5EF4-FFF2-40B4-BE49-F238E27FC236}">
                <a16:creationId xmlns:a16="http://schemas.microsoft.com/office/drawing/2014/main" id="{4A4509C5-5D20-4950-9B00-404585F2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432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7" name="pipeline-connector-1">
            <a:extLst xmlns:a="http://schemas.openxmlformats.org/drawingml/2006/main">
              <a:ext uri="{FF2B5EF4-FFF2-40B4-BE49-F238E27FC236}">
                <a16:creationId xmlns:a16="http://schemas.microsoft.com/office/drawing/2014/main" id="{46639BDD-06E0-44B2-9186-D9CF6AEE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432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8" name="pipeline-connector-2">
            <a:extLst xmlns:a="http://schemas.openxmlformats.org/drawingml/2006/main">
              <a:ext uri="{FF2B5EF4-FFF2-40B4-BE49-F238E27FC236}">
                <a16:creationId xmlns:a16="http://schemas.microsoft.com/office/drawing/2014/main" id="{77E5DA80-0DD3-4032-A07C-494C37E3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432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9" name="pipeline-connector-3">
            <a:extLst xmlns:a="http://schemas.openxmlformats.org/drawingml/2006/main">
              <a:ext uri="{FF2B5EF4-FFF2-40B4-BE49-F238E27FC236}">
                <a16:creationId xmlns:a16="http://schemas.microsoft.com/office/drawing/2014/main" id="{0378B67B-4045-4FFB-B946-2AD84D03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10" name="stage-panel-0">
            <a:extLst xmlns:a="http://schemas.openxmlformats.org/drawingml/2006/main">
              <a:ext uri="{FF2B5EF4-FFF2-40B4-BE49-F238E27FC236}">
                <a16:creationId xmlns:a16="http://schemas.microsoft.com/office/drawing/2014/main" id="{0F20CC97-8C31-4BD8-84BB-51F324C3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1809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tage-num-0">
            <a:extLst xmlns:a="http://schemas.openxmlformats.org/drawingml/2006/main">
              <a:ext uri="{FF2B5EF4-FFF2-40B4-BE49-F238E27FC236}">
                <a16:creationId xmlns:a16="http://schemas.microsoft.com/office/drawing/2014/main" id="{77F43597-85F2-45E3-B5C0-F67E1D1C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99AEE1F7-E4EC-45EE-AB62-7C97ACCF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146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13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2A91A3CF-CB5A-4AEC-A82A-8451C195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1466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Yahoo Finance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Kaggle news</a:t>
            </a:r>
          </a:p>
        </p:txBody>
      </p:sp>
      <p:sp>
        <p:nvSpPr>
          <p:cNvPr id="14" name="stage-panel-1">
            <a:extLst xmlns:a="http://schemas.openxmlformats.org/drawingml/2006/main">
              <a:ext uri="{FF2B5EF4-FFF2-40B4-BE49-F238E27FC236}">
                <a16:creationId xmlns:a16="http://schemas.microsoft.com/office/drawing/2014/main" id="{A4F451ED-0481-411D-8C55-B3B5C05C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90750"/>
            <a:ext cx="1809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stage-num-1">
            <a:extLst xmlns:a="http://schemas.openxmlformats.org/drawingml/2006/main">
              <a:ext uri="{FF2B5EF4-FFF2-40B4-BE49-F238E27FC236}">
                <a16:creationId xmlns:a16="http://schemas.microsoft.com/office/drawing/2014/main" id="{7E498FC0-AD81-4361-BB00-F5F9772D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F714E43B-3F5A-43C8-93F4-15DE1798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57500"/>
            <a:ext cx="146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Clean</a:t>
            </a:r>
          </a:p>
        </p:txBody>
      </p:sp>
      <p:sp>
        <p:nvSpPr>
          <p:cNvPr id="17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CDC082E2-64C6-43EE-8F50-AF74B01B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76625"/>
            <a:ext cx="1466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Dates, duplicates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missing values</a:t>
            </a:r>
          </a:p>
        </p:txBody>
      </p:sp>
      <p:sp>
        <p:nvSpPr>
          <p:cNvPr id="18" name="stage-panel-2">
            <a:extLst xmlns:a="http://schemas.openxmlformats.org/drawingml/2006/main">
              <a:ext uri="{FF2B5EF4-FFF2-40B4-BE49-F238E27FC236}">
                <a16:creationId xmlns:a16="http://schemas.microsoft.com/office/drawing/2014/main" id="{29DFBE07-B880-44AF-AFE5-1E630310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90750"/>
            <a:ext cx="1809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stage-num-2">
            <a:extLst xmlns:a="http://schemas.openxmlformats.org/drawingml/2006/main">
              <a:ext uri="{FF2B5EF4-FFF2-40B4-BE49-F238E27FC236}">
                <a16:creationId xmlns:a16="http://schemas.microsoft.com/office/drawing/2014/main" id="{8A7E25ED-1F43-4834-90B3-59A13E56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E3BAC7E1-64EE-4E77-991E-DFC06662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57500"/>
            <a:ext cx="146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Engineer</a:t>
            </a:r>
          </a:p>
        </p:txBody>
      </p:sp>
      <p:sp>
        <p:nvSpPr>
          <p:cNvPr id="21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D0DF1072-8D27-4C39-9DAC-4FFB8EF1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76625"/>
            <a:ext cx="1466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2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Technical +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sentiment features</a:t>
            </a:r>
          </a:p>
        </p:txBody>
      </p:sp>
      <p:sp>
        <p:nvSpPr>
          <p:cNvPr id="22" name="stage-panel-3">
            <a:extLst xmlns:a="http://schemas.openxmlformats.org/drawingml/2006/main">
              <a:ext uri="{FF2B5EF4-FFF2-40B4-BE49-F238E27FC236}">
                <a16:creationId xmlns:a16="http://schemas.microsoft.com/office/drawing/2014/main" id="{8DF0941F-5C94-4D97-B847-1E2A3698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1809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stage-num-3">
            <a:extLst xmlns:a="http://schemas.openxmlformats.org/drawingml/2006/main">
              <a:ext uri="{FF2B5EF4-FFF2-40B4-BE49-F238E27FC236}">
                <a16:creationId xmlns:a16="http://schemas.microsoft.com/office/drawing/2014/main" id="{A57A4C17-66A3-4C16-9923-C26EF4AA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4E171ECB-CEF4-4939-B98E-C160B7BA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57500"/>
            <a:ext cx="146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25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3059C008-B631-49CE-AF14-E22CBBF6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1466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Four models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time-aware split</a:t>
            </a:r>
          </a:p>
        </p:txBody>
      </p:sp>
      <p:sp>
        <p:nvSpPr>
          <p:cNvPr id="26" name="stage-panel-4">
            <a:extLst xmlns:a="http://schemas.openxmlformats.org/drawingml/2006/main">
              <a:ext uri="{FF2B5EF4-FFF2-40B4-BE49-F238E27FC236}">
                <a16:creationId xmlns:a16="http://schemas.microsoft.com/office/drawing/2014/main" id="{641D369D-9BAB-43A1-AAAA-35659D9B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90750"/>
            <a:ext cx="1809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stage-num-4">
            <a:extLst xmlns:a="http://schemas.openxmlformats.org/drawingml/2006/main">
              <a:ext uri="{FF2B5EF4-FFF2-40B4-BE49-F238E27FC236}">
                <a16:creationId xmlns:a16="http://schemas.microsoft.com/office/drawing/2014/main" id="{4FFA937C-DCBE-4386-A3D7-752118E7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stage-title-4">
            <a:extLst xmlns:a="http://schemas.openxmlformats.org/drawingml/2006/main">
              <a:ext uri="{FF2B5EF4-FFF2-40B4-BE49-F238E27FC236}">
                <a16:creationId xmlns:a16="http://schemas.microsoft.com/office/drawing/2014/main" id="{8D42A6BF-3754-48CB-B912-5AFF5E9F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57500"/>
            <a:ext cx="146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9" name="stage-body-4">
            <a:extLst xmlns:a="http://schemas.openxmlformats.org/drawingml/2006/main">
              <a:ext uri="{FF2B5EF4-FFF2-40B4-BE49-F238E27FC236}">
                <a16:creationId xmlns:a16="http://schemas.microsoft.com/office/drawing/2014/main" id="{937B0475-5B35-4619-B96C-71DB795B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76625"/>
            <a:ext cx="1466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SHAP +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Streamlit</a:t>
            </a:r>
          </a:p>
        </p:txBody>
      </p:sp>
      <p:sp>
        <p:nvSpPr>
          <p:cNvPr id="30" name="pipeline-output">
            <a:extLst xmlns:a="http://schemas.openxmlformats.org/drawingml/2006/main">
              <a:ext uri="{FF2B5EF4-FFF2-40B4-BE49-F238E27FC236}">
                <a16:creationId xmlns:a16="http://schemas.microsoft.com/office/drawing/2014/main" id="{473FAB1C-A61E-465B-8CE6-63F341CB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Outputs: processed CSVs | joblib model bundles | evaluation figures | deployed app</a:t>
            </a:r>
          </a:p>
        </p:txBody>
      </p:sp>
    </p:spTree>
    <p:extLst>
      <p:ext uri="{BB962C8B-B14F-4D97-AF65-F5344CB8AC3E}">
        <p14:creationId xmlns:p14="http://schemas.microsoft.com/office/powerpoint/2010/main" val="9028214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4">
            <a:extLst xmlns:a="http://schemas.openxmlformats.org/drawingml/2006/main">
              <a:ext uri="{FF2B5EF4-FFF2-40B4-BE49-F238E27FC236}">
                <a16:creationId xmlns:a16="http://schemas.microsoft.com/office/drawing/2014/main" id="{9B8EABEA-14DF-48D6-BB49-B86682B2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14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modeling table aligned market and news histories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24FB081-E1D5-4625-AB33-65DB8622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footer-4">
            <a:extLst xmlns:a="http://schemas.openxmlformats.org/drawingml/2006/main">
              <a:ext uri="{FF2B5EF4-FFF2-40B4-BE49-F238E27FC236}">
                <a16:creationId xmlns:a16="http://schemas.microsoft.com/office/drawing/2014/main" id="{07C3CD26-6C34-4C7B-9E43-89D92571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CCDAB75A-A1AA-48C6-AC69-91EEB7CE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AAPL MARKET MOVEMENT PREDICTION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00050" y="1476375"/>
          <a:ext xmlns:a="http://schemas.openxmlformats.org/drawingml/2006/main" cx="53340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5b6d0125d243b6"/>
          </a:graphicData>
        </a:graphic>
      </p:graphicFrame>
      <p:sp>
        <p:nvSpPr>
          <p:cNvPr id="6" name="data-days-panel">
            <a:extLst xmlns:a="http://schemas.openxmlformats.org/drawingml/2006/main">
              <a:ext uri="{FF2B5EF4-FFF2-40B4-BE49-F238E27FC236}">
                <a16:creationId xmlns:a16="http://schemas.microsoft.com/office/drawing/2014/main" id="{3469A09A-1AED-4C39-963D-325B3E76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81125"/>
            <a:ext cx="55340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ata-days-accent">
            <a:extLst xmlns:a="http://schemas.openxmlformats.org/drawingml/2006/main">
              <a:ext uri="{FF2B5EF4-FFF2-40B4-BE49-F238E27FC236}">
                <a16:creationId xmlns:a16="http://schemas.microsoft.com/office/drawing/2014/main" id="{F415A0C2-9BE0-4CE5-BC41-FA04B282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81125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ata-days-title">
            <a:extLst xmlns:a="http://schemas.openxmlformats.org/drawingml/2006/main">
              <a:ext uri="{FF2B5EF4-FFF2-40B4-BE49-F238E27FC236}">
                <a16:creationId xmlns:a16="http://schemas.microsoft.com/office/drawing/2014/main" id="{72469E64-22E5-4C58-8147-A56B937C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52575"/>
            <a:ext cx="5076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2,210 trading days</a:t>
            </a:r>
          </a:p>
        </p:txBody>
      </p:sp>
      <p:sp>
        <p:nvSpPr>
          <p:cNvPr id="9" name="data-days-body">
            <a:extLst xmlns:a="http://schemas.openxmlformats.org/drawingml/2006/main">
              <a:ext uri="{FF2B5EF4-FFF2-40B4-BE49-F238E27FC236}">
                <a16:creationId xmlns:a16="http://schemas.microsoft.com/office/drawing/2014/main" id="{FD6F51E5-BA55-4217-973F-A5913D2D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33575"/>
            <a:ext cx="5076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Unified dataset from 19 Feb 2016 to 27 Nov 2024.</a:t>
            </a:r>
          </a:p>
        </p:txBody>
      </p:sp>
      <p:sp>
        <p:nvSpPr>
          <p:cNvPr id="10" name="data-news-panel">
            <a:extLst xmlns:a="http://schemas.openxmlformats.org/drawingml/2006/main">
              <a:ext uri="{FF2B5EF4-FFF2-40B4-BE49-F238E27FC236}">
                <a16:creationId xmlns:a16="http://schemas.microsoft.com/office/drawing/2014/main" id="{C3A83AE8-1EAF-43E9-B500-06C5C633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38475"/>
            <a:ext cx="55340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ata-news-accent">
            <a:extLst xmlns:a="http://schemas.openxmlformats.org/drawingml/2006/main">
              <a:ext uri="{FF2B5EF4-FFF2-40B4-BE49-F238E27FC236}">
                <a16:creationId xmlns:a16="http://schemas.microsoft.com/office/drawing/2014/main" id="{97F0E9FA-087F-4855-ABF0-CA92A37C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38475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ata-news-title">
            <a:extLst xmlns:a="http://schemas.openxmlformats.org/drawingml/2006/main">
              <a:ext uri="{FF2B5EF4-FFF2-40B4-BE49-F238E27FC236}">
                <a16:creationId xmlns:a16="http://schemas.microsoft.com/office/drawing/2014/main" id="{636D5953-5D4A-4978-A238-1DFD44F9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09925"/>
            <a:ext cx="5076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28,708 headlines</a:t>
            </a:r>
          </a:p>
        </p:txBody>
      </p:sp>
      <p:sp>
        <p:nvSpPr>
          <p:cNvPr id="13" name="data-news-body">
            <a:extLst xmlns:a="http://schemas.openxmlformats.org/drawingml/2006/main">
              <a:ext uri="{FF2B5EF4-FFF2-40B4-BE49-F238E27FC236}">
                <a16:creationId xmlns:a16="http://schemas.microsoft.com/office/drawing/2014/main" id="{C0867BBA-D096-4236-805D-C042B281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90925"/>
            <a:ext cx="5076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AAPL news titles scored by the saved sentiment pipeline.</a:t>
            </a:r>
          </a:p>
        </p:txBody>
      </p:sp>
      <p:sp>
        <p:nvSpPr>
          <p:cNvPr id="14" name="data-coverage-panel">
            <a:extLst xmlns:a="http://schemas.openxmlformats.org/drawingml/2006/main">
              <a:ext uri="{FF2B5EF4-FFF2-40B4-BE49-F238E27FC236}">
                <a16:creationId xmlns:a16="http://schemas.microsoft.com/office/drawing/2014/main" id="{58625B61-E49D-4341-A8F9-3E4E5696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95825"/>
            <a:ext cx="55340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ata-coverage-accent">
            <a:extLst xmlns:a="http://schemas.openxmlformats.org/drawingml/2006/main">
              <a:ext uri="{FF2B5EF4-FFF2-40B4-BE49-F238E27FC236}">
                <a16:creationId xmlns:a16="http://schemas.microsoft.com/office/drawing/2014/main" id="{B9A81515-1754-48F1-9E0E-C79D0EF8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95825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ata-coverage-title">
            <a:extLst xmlns:a="http://schemas.openxmlformats.org/drawingml/2006/main">
              <a:ext uri="{FF2B5EF4-FFF2-40B4-BE49-F238E27FC236}">
                <a16:creationId xmlns:a16="http://schemas.microsoft.com/office/drawing/2014/main" id="{4464B2BA-9752-48D2-BC9B-29875C64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67275"/>
            <a:ext cx="5076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1,140 news days</a:t>
            </a:r>
          </a:p>
        </p:txBody>
      </p:sp>
      <p:sp>
        <p:nvSpPr>
          <p:cNvPr id="17" name="data-coverage-body">
            <a:extLst xmlns:a="http://schemas.openxmlformats.org/drawingml/2006/main">
              <a:ext uri="{FF2B5EF4-FFF2-40B4-BE49-F238E27FC236}">
                <a16:creationId xmlns:a16="http://schemas.microsoft.com/office/drawing/2014/main" id="{0571F110-1E0A-443A-A3FA-E7516B8F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48275"/>
            <a:ext cx="5076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1,070 trading days had no news and retained zero-filled sentiment features.</a:t>
            </a:r>
          </a:p>
        </p:txBody>
      </p:sp>
    </p:spTree>
    <p:extLst>
      <p:ext uri="{BB962C8B-B14F-4D97-AF65-F5344CB8AC3E}">
        <p14:creationId xmlns:p14="http://schemas.microsoft.com/office/powerpoint/2010/main" val="4713136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5">
            <a:extLst xmlns:a="http://schemas.openxmlformats.org/drawingml/2006/main">
              <a:ext uri="{FF2B5EF4-FFF2-40B4-BE49-F238E27FC236}">
                <a16:creationId xmlns:a16="http://schemas.microsoft.com/office/drawing/2014/main" id="{1F16EBD0-16EB-4365-825F-F616A85F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14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11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sentiment classifier generalized well on labeled headlines</a:t>
            </a:r>
          </a:p>
        </p:txBody>
      </p:sp>
      <p:sp>
        <p:nvSpPr>
          <p:cNvPr id="2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6E31F6DC-E021-429D-8F13-25041886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footer-5">
            <a:extLst xmlns:a="http://schemas.openxmlformats.org/drawingml/2006/main">
              <a:ext uri="{FF2B5EF4-FFF2-40B4-BE49-F238E27FC236}">
                <a16:creationId xmlns:a16="http://schemas.microsoft.com/office/drawing/2014/main" id="{22325D59-631B-4A09-A548-5732DAAB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F7F43F3F-BDFC-422B-8E47-B71304ED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AAPL MARKET MOVEMENT PREDICTION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00050" y="1476375"/>
          <a:ext xmlns:a="http://schemas.openxmlformats.org/drawingml/2006/main" cx="53340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65c93c32014fc8"/>
          </a:graphicData>
        </a:graphic>
      </p:graphicFrame>
      <p:sp>
        <p:nvSpPr>
          <p:cNvPr id="6" name="sent-model-panel">
            <a:extLst xmlns:a="http://schemas.openxmlformats.org/drawingml/2006/main">
              <a:ext uri="{FF2B5EF4-FFF2-40B4-BE49-F238E27FC236}">
                <a16:creationId xmlns:a16="http://schemas.microsoft.com/office/drawing/2014/main" id="{B7FB7831-29C4-4284-8DFA-B54FE12C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81125"/>
            <a:ext cx="55340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nt-model-accent">
            <a:extLst xmlns:a="http://schemas.openxmlformats.org/drawingml/2006/main">
              <a:ext uri="{FF2B5EF4-FFF2-40B4-BE49-F238E27FC236}">
                <a16:creationId xmlns:a16="http://schemas.microsoft.com/office/drawing/2014/main" id="{C09CA38F-C62E-40FE-8F52-9A8DE69A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81125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nt-model-title">
            <a:extLst xmlns:a="http://schemas.openxmlformats.org/drawingml/2006/main">
              <a:ext uri="{FF2B5EF4-FFF2-40B4-BE49-F238E27FC236}">
                <a16:creationId xmlns:a16="http://schemas.microsoft.com/office/drawing/2014/main" id="{CB0A0CFF-C911-4054-A005-9E536618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52575"/>
            <a:ext cx="5076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TF-IDF + Logistic Regression</a:t>
            </a:r>
          </a:p>
        </p:txBody>
      </p:sp>
      <p:sp>
        <p:nvSpPr>
          <p:cNvPr id="9" name="sent-model-body">
            <a:extLst xmlns:a="http://schemas.openxmlformats.org/drawingml/2006/main">
              <a:ext uri="{FF2B5EF4-FFF2-40B4-BE49-F238E27FC236}">
                <a16:creationId xmlns:a16="http://schemas.microsoft.com/office/drawing/2014/main" id="{D360F3D8-288F-47D5-A4C5-AC951CF7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33575"/>
            <a:ext cx="5076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 class-weighted three-class pipeline predicted negative, neutral and positive labels.</a:t>
            </a:r>
          </a:p>
        </p:txBody>
      </p:sp>
      <p:sp>
        <p:nvSpPr>
          <p:cNvPr id="10" name="sent-test-panel">
            <a:extLst xmlns:a="http://schemas.openxmlformats.org/drawingml/2006/main">
              <a:ext uri="{FF2B5EF4-FFF2-40B4-BE49-F238E27FC236}">
                <a16:creationId xmlns:a16="http://schemas.microsoft.com/office/drawing/2014/main" id="{3975D444-DF37-4D75-80BA-DDD11C18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38475"/>
            <a:ext cx="55340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ent-test-accent">
            <a:extLst xmlns:a="http://schemas.openxmlformats.org/drawingml/2006/main">
              <a:ext uri="{FF2B5EF4-FFF2-40B4-BE49-F238E27FC236}">
                <a16:creationId xmlns:a16="http://schemas.microsoft.com/office/drawing/2014/main" id="{3EDE437C-26E7-4C24-82DD-2868E0DF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38475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nt-test-title">
            <a:extLst xmlns:a="http://schemas.openxmlformats.org/drawingml/2006/main">
              <a:ext uri="{FF2B5EF4-FFF2-40B4-BE49-F238E27FC236}">
                <a16:creationId xmlns:a16="http://schemas.microsoft.com/office/drawing/2014/main" id="{F7B30157-B787-478D-AFBD-6940A3DB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09925"/>
            <a:ext cx="5076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80.03% test accuracy</a:t>
            </a:r>
          </a:p>
        </p:txBody>
      </p:sp>
      <p:sp>
        <p:nvSpPr>
          <p:cNvPr id="13" name="sent-test-body">
            <a:extLst xmlns:a="http://schemas.openxmlformats.org/drawingml/2006/main">
              <a:ext uri="{FF2B5EF4-FFF2-40B4-BE49-F238E27FC236}">
                <a16:creationId xmlns:a16="http://schemas.microsoft.com/office/drawing/2014/main" id="{109CB202-FD7C-4607-9E28-51802C41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90925"/>
            <a:ext cx="5076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Final macro F1: 76.87% across 726 labeled headlines.</a:t>
            </a:r>
          </a:p>
        </p:txBody>
      </p:sp>
      <p:sp>
        <p:nvSpPr>
          <p:cNvPr id="14" name="sent-save-panel">
            <a:extLst xmlns:a="http://schemas.openxmlformats.org/drawingml/2006/main">
              <a:ext uri="{FF2B5EF4-FFF2-40B4-BE49-F238E27FC236}">
                <a16:creationId xmlns:a16="http://schemas.microsoft.com/office/drawing/2014/main" id="{D18A00EE-1C17-44BC-A096-AC747AF0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95825"/>
            <a:ext cx="55340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ent-save-accent">
            <a:extLst xmlns:a="http://schemas.openxmlformats.org/drawingml/2006/main">
              <a:ext uri="{FF2B5EF4-FFF2-40B4-BE49-F238E27FC236}">
                <a16:creationId xmlns:a16="http://schemas.microsoft.com/office/drawing/2014/main" id="{05058DD9-0F26-406A-A340-9CB4AB15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95825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ent-save-title">
            <a:extLst xmlns:a="http://schemas.openxmlformats.org/drawingml/2006/main">
              <a:ext uri="{FF2B5EF4-FFF2-40B4-BE49-F238E27FC236}">
                <a16:creationId xmlns:a16="http://schemas.microsoft.com/office/drawing/2014/main" id="{11F5FDF0-75AF-4186-800A-40050CBA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67275"/>
            <a:ext cx="5076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Reusable saved pipeline</a:t>
            </a:r>
          </a:p>
        </p:txBody>
      </p:sp>
      <p:sp>
        <p:nvSpPr>
          <p:cNvPr id="17" name="sent-save-body">
            <a:extLst xmlns:a="http://schemas.openxmlformats.org/drawingml/2006/main">
              <a:ext uri="{FF2B5EF4-FFF2-40B4-BE49-F238E27FC236}">
                <a16:creationId xmlns:a16="http://schemas.microsoft.com/office/drawing/2014/main" id="{BD8F7965-426F-42DB-9922-70C19FC6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48275"/>
            <a:ext cx="5076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The same preprocessing and vocabulary power the dashboard headline tester.</a:t>
            </a:r>
          </a:p>
        </p:txBody>
      </p:sp>
    </p:spTree>
    <p:extLst>
      <p:ext uri="{BB962C8B-B14F-4D97-AF65-F5344CB8AC3E}">
        <p14:creationId xmlns:p14="http://schemas.microsoft.com/office/powerpoint/2010/main" val="6459346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6">
            <a:extLst xmlns:a="http://schemas.openxmlformats.org/drawingml/2006/main">
              <a:ext uri="{FF2B5EF4-FFF2-40B4-BE49-F238E27FC236}">
                <a16:creationId xmlns:a16="http://schemas.microsoft.com/office/drawing/2014/main" id="{97D77EDC-3D2B-4D9B-B818-3A72BB8F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14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Stationary features reduced dependence on raw price scale</a:t>
            </a:r>
          </a:p>
        </p:txBody>
      </p:sp>
      <p:sp>
        <p:nvSpPr>
          <p:cNvPr id="2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3359C4FC-8CF9-4A26-886D-5B5197DA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footer-6">
            <a:extLst xmlns:a="http://schemas.openxmlformats.org/drawingml/2006/main">
              <a:ext uri="{FF2B5EF4-FFF2-40B4-BE49-F238E27FC236}">
                <a16:creationId xmlns:a16="http://schemas.microsoft.com/office/drawing/2014/main" id="{D3EB7B32-A3F7-428C-8E1E-4365436A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7F86A50E-3182-4B5D-A36B-4BEE2FC5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AAPL MARKET MOVEMENT PREDICTION</a:t>
            </a:r>
          </a:p>
        </p:txBody>
      </p:sp>
      <p:sp>
        <p:nvSpPr>
          <p:cNvPr id="5" name="feature-lead">
            <a:extLst xmlns:a="http://schemas.openxmlformats.org/drawingml/2006/main">
              <a:ext uri="{FF2B5EF4-FFF2-40B4-BE49-F238E27FC236}">
                <a16:creationId xmlns:a16="http://schemas.microsoft.com/office/drawing/2014/main" id="{A7C17E40-6F4A-43C9-8F50-F7AEACB2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71625"/>
            <a:ext cx="55340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69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final comparison used 31 normalized, lagged or relative variables rather than raw future-sensitive fields.</a:t>
            </a:r>
          </a:p>
        </p:txBody>
      </p:sp>
      <p:sp>
        <p:nvSpPr>
          <p:cNvPr id="6" name="feature-detail">
            <a:extLst xmlns:a="http://schemas.openxmlformats.org/drawingml/2006/main">
              <a:ext uri="{FF2B5EF4-FFF2-40B4-BE49-F238E27FC236}">
                <a16:creationId xmlns:a16="http://schemas.microsoft.com/office/drawing/2014/main" id="{4589D4FD-5EA3-463C-8A79-14265E9B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0"/>
            <a:ext cx="55340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Date, adjusted close, next close and target were excluded. Rolling indicators used only the current and prior observations. Missing selected-feature values: 0.</a:t>
            </a:r>
          </a:p>
        </p:txBody>
      </p:sp>
      <p:sp>
        <p:nvSpPr>
          <p:cNvPr id="7" name="feature-dot-0">
            <a:extLst xmlns:a="http://schemas.openxmlformats.org/drawingml/2006/main">
              <a:ext uri="{FF2B5EF4-FFF2-40B4-BE49-F238E27FC236}">
                <a16:creationId xmlns:a16="http://schemas.microsoft.com/office/drawing/2014/main" id="{80B19D03-4479-4E98-B486-37A2EEE7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09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eature-label-0">
            <a:extLst xmlns:a="http://schemas.openxmlformats.org/drawingml/2006/main">
              <a:ext uri="{FF2B5EF4-FFF2-40B4-BE49-F238E27FC236}">
                <a16:creationId xmlns:a16="http://schemas.microsoft.com/office/drawing/2014/main" id="{FFDBBEBE-17DA-4E47-8846-F4BBF5A5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3362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Returns and price ranges</a:t>
            </a:r>
          </a:p>
        </p:txBody>
      </p:sp>
      <p:sp>
        <p:nvSpPr>
          <p:cNvPr id="9" name="feature-dot-1">
            <a:extLst xmlns:a="http://schemas.openxmlformats.org/drawingml/2006/main">
              <a:ext uri="{FF2B5EF4-FFF2-40B4-BE49-F238E27FC236}">
                <a16:creationId xmlns:a16="http://schemas.microsoft.com/office/drawing/2014/main" id="{87D8C838-DA6A-4DED-BFD8-9D3EA554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95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eature-label-1">
            <a:extLst xmlns:a="http://schemas.openxmlformats.org/drawingml/2006/main">
              <a:ext uri="{FF2B5EF4-FFF2-40B4-BE49-F238E27FC236}">
                <a16:creationId xmlns:a16="http://schemas.microsoft.com/office/drawing/2014/main" id="{D263EDFB-A643-4AF6-8F37-EC05425F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1942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SMA, EMA and MACD relations</a:t>
            </a:r>
          </a:p>
        </p:txBody>
      </p:sp>
      <p:sp>
        <p:nvSpPr>
          <p:cNvPr id="11" name="feature-dot-2">
            <a:extLst xmlns:a="http://schemas.openxmlformats.org/drawingml/2006/main">
              <a:ext uri="{FF2B5EF4-FFF2-40B4-BE49-F238E27FC236}">
                <a16:creationId xmlns:a16="http://schemas.microsoft.com/office/drawing/2014/main" id="{F0FBBA1E-C65C-4DF0-9D51-05FA9F29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814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eature-label-2">
            <a:extLst xmlns:a="http://schemas.openxmlformats.org/drawingml/2006/main">
              <a:ext uri="{FF2B5EF4-FFF2-40B4-BE49-F238E27FC236}">
                <a16:creationId xmlns:a16="http://schemas.microsoft.com/office/drawing/2014/main" id="{4A89C024-DBE4-4D17-8FF7-FACACCB8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0522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RSI and Bollinger position</a:t>
            </a:r>
          </a:p>
        </p:txBody>
      </p:sp>
      <p:sp>
        <p:nvSpPr>
          <p:cNvPr id="13" name="feature-dot-3">
            <a:extLst xmlns:a="http://schemas.openxmlformats.org/drawingml/2006/main">
              <a:ext uri="{FF2B5EF4-FFF2-40B4-BE49-F238E27FC236}">
                <a16:creationId xmlns:a16="http://schemas.microsoft.com/office/drawing/2014/main" id="{436BB7E4-667C-4A71-92E4-43C402FC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67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eature-label-3">
            <a:extLst xmlns:a="http://schemas.openxmlformats.org/drawingml/2006/main">
              <a:ext uri="{FF2B5EF4-FFF2-40B4-BE49-F238E27FC236}">
                <a16:creationId xmlns:a16="http://schemas.microsoft.com/office/drawing/2014/main" id="{3D8C378E-9405-4470-AE36-75CC7C4F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9102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Lagged returns and volatility</a:t>
            </a:r>
          </a:p>
        </p:txBody>
      </p:sp>
      <p:sp>
        <p:nvSpPr>
          <p:cNvPr id="15" name="feature-dot-4">
            <a:extLst xmlns:a="http://schemas.openxmlformats.org/drawingml/2006/main">
              <a:ext uri="{FF2B5EF4-FFF2-40B4-BE49-F238E27FC236}">
                <a16:creationId xmlns:a16="http://schemas.microsoft.com/office/drawing/2014/main" id="{B4E0DDA7-132C-4692-B411-639A6E9B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530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eature-label-4">
            <a:extLst xmlns:a="http://schemas.openxmlformats.org/drawingml/2006/main">
              <a:ext uri="{FF2B5EF4-FFF2-40B4-BE49-F238E27FC236}">
                <a16:creationId xmlns:a16="http://schemas.microsoft.com/office/drawing/2014/main" id="{F3DB46B8-9743-414A-A12A-F425436A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7682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Cyclic calendar encodings</a:t>
            </a:r>
          </a:p>
        </p:txBody>
      </p:sp>
    </p:spTree>
    <p:extLst>
      <p:ext uri="{BB962C8B-B14F-4D97-AF65-F5344CB8AC3E}">
        <p14:creationId xmlns:p14="http://schemas.microsoft.com/office/powerpoint/2010/main" val="3119056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7">
            <a:extLst xmlns:a="http://schemas.openxmlformats.org/drawingml/2006/main">
              <a:ext uri="{FF2B5EF4-FFF2-40B4-BE49-F238E27FC236}">
                <a16:creationId xmlns:a16="http://schemas.microsoft.com/office/drawing/2014/main" id="{243AF9EB-B06B-4282-895B-6F07BE71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14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Chronological splits protected the final evaluation</a:t>
            </a:r>
          </a:p>
        </p:txBody>
      </p:sp>
      <p:sp>
        <p:nvSpPr>
          <p:cNvPr id="2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3FAD8B9F-F71E-4AF9-B65B-2924F92D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footer-7">
            <a:extLst xmlns:a="http://schemas.openxmlformats.org/drawingml/2006/main">
              <a:ext uri="{FF2B5EF4-FFF2-40B4-BE49-F238E27FC236}">
                <a16:creationId xmlns:a16="http://schemas.microsoft.com/office/drawing/2014/main" id="{CBE30CEC-57EF-4124-8DC3-59D4FAE1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CD5B7092-C9CA-4215-9D01-33C75DFE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AAPL MARKET MOVEMENT PREDICTION</a:t>
            </a:r>
          </a:p>
        </p:txBody>
      </p:sp>
      <p:sp>
        <p:nvSpPr>
          <p:cNvPr id="5" name="split-sub">
            <a:extLst xmlns:a="http://schemas.openxmlformats.org/drawingml/2006/main">
              <a:ext uri="{FF2B5EF4-FFF2-40B4-BE49-F238E27FC236}">
                <a16:creationId xmlns:a16="http://schemas.microsoft.com/office/drawing/2014/main" id="{1FEE583D-CC59-4C77-B009-08240F26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1401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Training preceded validation, which preceded the untouched test period.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390525" y="2095500"/>
          <a:ext xmlns:a="http://schemas.openxmlformats.org/drawingml/2006/main" cx="11401425" cy="2667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1428750"/>
                <a:gridCol w="3714750"/>
                <a:gridCol w="4162425"/>
              </a:tblGrid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Split</a:t>
                      </a:r>
                    </a:p>
                  </a:txBody>
                  <a:tcPr marL="95250" marR="95250" marT="57150" marB="5715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Rows</a:t>
                      </a:r>
                    </a:p>
                  </a:txBody>
                  <a:tcPr marL="95250" marR="95250" marT="57150" marB="5715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Date range</a:t>
                      </a:r>
                    </a:p>
                  </a:txBody>
                  <a:tcPr marL="95250" marR="95250" marT="57150" marB="5715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5250" marR="95250" marT="57150" marB="57150">
                    <a:solidFill>
                      <a:srgbClr val="11182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1,547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19 Feb 2016 - 8 Apr 2022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Fit candidate models</a:t>
                      </a:r>
                    </a:p>
                  </a:txBody>
                  <a:tcPr marL="95250" marR="95250" marT="57150" marB="5715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331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11 Apr 2022 - 4 Aug 2023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Choose configuration</a:t>
                      </a:r>
                    </a:p>
                  </a:txBody>
                  <a:tcPr marL="95250" marR="95250" marT="57150" marB="5715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Testing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332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7 Aug 2023 - 27 Nov 2024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One final evaluation</a:t>
                      </a:r>
                    </a:p>
                  </a:txBody>
                  <a:tcPr marL="95250" marR="95250" marT="57150" marB="57150"/>
                </a:tc>
              </a:tr>
            </a:tbl>
          </a:graphicData>
        </a:graphic>
      </p:graphicFrame>
      <p:sp>
        <p:nvSpPr>
          <p:cNvPr id="7" name="split-callout">
            <a:extLst xmlns:a="http://schemas.openxmlformats.org/drawingml/2006/main">
              <a:ext uri="{FF2B5EF4-FFF2-40B4-BE49-F238E27FC236}">
                <a16:creationId xmlns:a16="http://schemas.microsoft.com/office/drawing/2014/main" id="{3500B721-86D2-4520-9925-7E86706C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73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Why it matters: random splitting would leak market regimes across time and overstate future performance.</a:t>
            </a:r>
          </a:p>
        </p:txBody>
      </p:sp>
    </p:spTree>
    <p:extLst>
      <p:ext uri="{BB962C8B-B14F-4D97-AF65-F5344CB8AC3E}">
        <p14:creationId xmlns:p14="http://schemas.microsoft.com/office/powerpoint/2010/main" val="5484918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8">
            <a:extLst xmlns:a="http://schemas.openxmlformats.org/drawingml/2006/main">
              <a:ext uri="{FF2B5EF4-FFF2-40B4-BE49-F238E27FC236}">
                <a16:creationId xmlns:a16="http://schemas.microsoft.com/office/drawing/2014/main" id="{D14B1D11-37B3-4E95-ABA5-7CFEB7A4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14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Validation showed no strong all-history winner</a:t>
            </a:r>
          </a:p>
        </p:txBody>
      </p:sp>
      <p:sp>
        <p:nvSpPr>
          <p:cNvPr id="2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98C7B859-6522-4351-9C7A-DA924523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footer-8">
            <a:extLst xmlns:a="http://schemas.openxmlformats.org/drawingml/2006/main">
              <a:ext uri="{FF2B5EF4-FFF2-40B4-BE49-F238E27FC236}">
                <a16:creationId xmlns:a16="http://schemas.microsoft.com/office/drawing/2014/main" id="{3035D589-0558-4731-BB4C-6D153B69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7E02811A-3480-477C-8EEA-48DA42F1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AAPL MARKET MOVEMENT PREDICTION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00050" y="1476375"/>
          <a:ext xmlns:a="http://schemas.openxmlformats.org/drawingml/2006/main" cx="57150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f32abb71e5498f"/>
          </a:graphicData>
        </a:graphic>
      </p:graphicFrame>
      <p:sp>
        <p:nvSpPr>
          <p:cNvPr id="6" name="val-base-panel">
            <a:extLst xmlns:a="http://schemas.openxmlformats.org/drawingml/2006/main">
              <a:ext uri="{FF2B5EF4-FFF2-40B4-BE49-F238E27FC236}">
                <a16:creationId xmlns:a16="http://schemas.microsoft.com/office/drawing/2014/main" id="{37D0D734-557E-4650-B7B4-D8E61CAA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53244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val-base-accent">
            <a:extLst xmlns:a="http://schemas.openxmlformats.org/drawingml/2006/main">
              <a:ext uri="{FF2B5EF4-FFF2-40B4-BE49-F238E27FC236}">
                <a16:creationId xmlns:a16="http://schemas.microsoft.com/office/drawing/2014/main" id="{624D3B7B-A8D4-4744-8C0C-4B59DF77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val-base-title">
            <a:extLst xmlns:a="http://schemas.openxmlformats.org/drawingml/2006/main">
              <a:ext uri="{FF2B5EF4-FFF2-40B4-BE49-F238E27FC236}">
                <a16:creationId xmlns:a16="http://schemas.microsoft.com/office/drawing/2014/main" id="{C3A71328-7B4D-4770-AB54-F0EC4B9B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52575"/>
            <a:ext cx="4867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51.06% baseline</a:t>
            </a:r>
          </a:p>
        </p:txBody>
      </p:sp>
      <p:sp>
        <p:nvSpPr>
          <p:cNvPr id="9" name="val-base-body">
            <a:extLst xmlns:a="http://schemas.openxmlformats.org/drawingml/2006/main">
              <a:ext uri="{FF2B5EF4-FFF2-40B4-BE49-F238E27FC236}">
                <a16:creationId xmlns:a16="http://schemas.microsoft.com/office/drawing/2014/main" id="{3337E089-6066-459A-9FB9-51FD6C3E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33575"/>
            <a:ext cx="48672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No all-history model exceeded validation majority-class accuracy.</a:t>
            </a:r>
          </a:p>
        </p:txBody>
      </p:sp>
      <p:sp>
        <p:nvSpPr>
          <p:cNvPr id="10" name="val-f1-panel">
            <a:extLst xmlns:a="http://schemas.openxmlformats.org/drawingml/2006/main">
              <a:ext uri="{FF2B5EF4-FFF2-40B4-BE49-F238E27FC236}">
                <a16:creationId xmlns:a16="http://schemas.microsoft.com/office/drawing/2014/main" id="{5B06DF0C-A324-4A12-BD71-3A2A103C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38475"/>
            <a:ext cx="53244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val-f1-accent">
            <a:extLst xmlns:a="http://schemas.openxmlformats.org/drawingml/2006/main">
              <a:ext uri="{FF2B5EF4-FFF2-40B4-BE49-F238E27FC236}">
                <a16:creationId xmlns:a16="http://schemas.microsoft.com/office/drawing/2014/main" id="{7852F1B5-E910-4CD7-BE3B-44843F54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38475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al-f1-title">
            <a:extLst xmlns:a="http://schemas.openxmlformats.org/drawingml/2006/main">
              <a:ext uri="{FF2B5EF4-FFF2-40B4-BE49-F238E27FC236}">
                <a16:creationId xmlns:a16="http://schemas.microsoft.com/office/drawing/2014/main" id="{9400CDBE-96C4-4BF0-A33E-C0D0095C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9925"/>
            <a:ext cx="4867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XGBoost led F1</a:t>
            </a:r>
          </a:p>
        </p:txBody>
      </p:sp>
      <p:sp>
        <p:nvSpPr>
          <p:cNvPr id="13" name="val-f1-body">
            <a:extLst xmlns:a="http://schemas.openxmlformats.org/drawingml/2006/main">
              <a:ext uri="{FF2B5EF4-FFF2-40B4-BE49-F238E27FC236}">
                <a16:creationId xmlns:a16="http://schemas.microsoft.com/office/drawing/2014/main" id="{5661A4EE-493B-4973-A80B-5AE064FD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90925"/>
            <a:ext cx="48672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Its 51.52% F1 reflected higher recall, not stronger probability ranking.</a:t>
            </a:r>
          </a:p>
        </p:txBody>
      </p:sp>
      <p:sp>
        <p:nvSpPr>
          <p:cNvPr id="14" name="val-next-panel">
            <a:extLst xmlns:a="http://schemas.openxmlformats.org/drawingml/2006/main">
              <a:ext uri="{FF2B5EF4-FFF2-40B4-BE49-F238E27FC236}">
                <a16:creationId xmlns:a16="http://schemas.microsoft.com/office/drawing/2014/main" id="{78E0F005-79B7-40B8-A317-4801AD6E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95825"/>
            <a:ext cx="53244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al-next-accent">
            <a:extLst xmlns:a="http://schemas.openxmlformats.org/drawingml/2006/main">
              <a:ext uri="{FF2B5EF4-FFF2-40B4-BE49-F238E27FC236}">
                <a16:creationId xmlns:a16="http://schemas.microsoft.com/office/drawing/2014/main" id="{C4F2027B-F302-4BE3-BF60-BA5AAEB9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95825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val-next-title">
            <a:extLst xmlns:a="http://schemas.openxmlformats.org/drawingml/2006/main">
              <a:ext uri="{FF2B5EF4-FFF2-40B4-BE49-F238E27FC236}">
                <a16:creationId xmlns:a16="http://schemas.microsoft.com/office/drawing/2014/main" id="{42CB61D6-1D96-4758-A628-1788F4A7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67275"/>
            <a:ext cx="4867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Diagnostics followed</a:t>
            </a:r>
          </a:p>
        </p:txBody>
      </p:sp>
      <p:sp>
        <p:nvSpPr>
          <p:cNvPr id="17" name="val-next-body">
            <a:extLst xmlns:a="http://schemas.openxmlformats.org/drawingml/2006/main">
              <a:ext uri="{FF2B5EF4-FFF2-40B4-BE49-F238E27FC236}">
                <a16:creationId xmlns:a16="http://schemas.microsoft.com/office/drawing/2014/main" id="{9A0C63C3-D970-400D-8AA2-DA7708BC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48275"/>
            <a:ext cx="48672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Training windows and feature groups were compared before touching the test set.</a:t>
            </a:r>
          </a:p>
        </p:txBody>
      </p:sp>
    </p:spTree>
    <p:extLst>
      <p:ext uri="{BB962C8B-B14F-4D97-AF65-F5344CB8AC3E}">
        <p14:creationId xmlns:p14="http://schemas.microsoft.com/office/powerpoint/2010/main" val="8898347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9">
            <a:extLst xmlns:a="http://schemas.openxmlformats.org/drawingml/2006/main">
              <a:ext uri="{FF2B5EF4-FFF2-40B4-BE49-F238E27FC236}">
                <a16:creationId xmlns:a16="http://schemas.microsoft.com/office/drawing/2014/main" id="{869E89D3-E658-4477-83F9-49D1657A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14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Validation diagnostics locked a simpler final model</a:t>
            </a:r>
          </a:p>
        </p:txBody>
      </p:sp>
      <p:sp>
        <p:nvSpPr>
          <p:cNvPr id="2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540C2F5D-F896-4F42-88BA-E23E7DAF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footer-9">
            <a:extLst xmlns:a="http://schemas.openxmlformats.org/drawingml/2006/main">
              <a:ext uri="{FF2B5EF4-FFF2-40B4-BE49-F238E27FC236}">
                <a16:creationId xmlns:a16="http://schemas.microsoft.com/office/drawing/2014/main" id="{EF56B249-13E2-44DF-A9C4-2098E283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D421E1D0-176C-4BB0-9637-190662AA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AAPL MARKET MOVEMENT PREDICTION</a:t>
            </a:r>
          </a:p>
        </p:txBody>
      </p:sp>
      <p:sp>
        <p:nvSpPr>
          <p:cNvPr id="5" name="locked-sub">
            <a:extLst xmlns:a="http://schemas.openxmlformats.org/drawingml/2006/main">
              <a:ext uri="{FF2B5EF4-FFF2-40B4-BE49-F238E27FC236}">
                <a16:creationId xmlns:a16="http://schemas.microsoft.com/office/drawing/2014/main" id="{CF34CB20-92B2-4FAA-BEC5-088930DF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1401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The best validation accuracy came from a market-only logistic regression trained from 2020 onward.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390525" y="2000250"/>
          <a:ext xmlns:a="http://schemas.openxmlformats.org/drawingml/2006/main" cx="11401425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2952750"/>
                <a:gridCol w="5972175"/>
              </a:tblGrid>
              <a:tr h="539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</a:t>
                      </a:r>
                    </a:p>
                  </a:txBody>
                  <a:tcPr marL="95250" marR="95250" marT="57150" marB="5715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Locked choice</a:t>
                      </a:r>
                    </a:p>
                  </a:txBody>
                  <a:tcPr marL="95250" marR="95250" marT="57150" marB="5715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Reason</a:t>
                      </a:r>
                    </a:p>
                  </a:txBody>
                  <a:tcPr marL="95250" marR="95250" marT="57150" marB="57150">
                    <a:solidFill>
                      <a:srgbClr val="111827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Logistic Regression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Best diagnostic validation accuracy</a:t>
                      </a:r>
                    </a:p>
                  </a:txBody>
                  <a:tcPr marL="95250" marR="95250" marT="57150" marB="57150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Training window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From 2020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Reduced older-regime exposure</a:t>
                      </a:r>
                    </a:p>
                  </a:txBody>
                  <a:tcPr marL="95250" marR="95250" marT="57150" marB="57150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Feature group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Market only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Generalized better than combined model</a:t>
                      </a:r>
                    </a:p>
                  </a:txBody>
                  <a:tcPr marL="95250" marR="95250" marT="57150" marB="57150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Regularization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 = 0.1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Stronger control for correlated features</a:t>
                      </a:r>
                    </a:p>
                  </a:txBody>
                  <a:tcPr marL="95250" marR="95250" marT="57150" marB="57150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Class handling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Balanced weights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Addressed moderate imbalance</a:t>
                      </a:r>
                    </a:p>
                  </a:txBody>
                  <a:tcPr marL="95250" marR="95250" marT="57150" marB="57150"/>
                </a:tc>
              </a:tr>
            </a:tbl>
          </a:graphicData>
        </a:graphic>
      </p:graphicFrame>
      <p:sp>
        <p:nvSpPr>
          <p:cNvPr id="7" name="locked-metrics">
            <a:extLst xmlns:a="http://schemas.openxmlformats.org/drawingml/2006/main">
              <a:ext uri="{FF2B5EF4-FFF2-40B4-BE49-F238E27FC236}">
                <a16:creationId xmlns:a16="http://schemas.microsoft.com/office/drawing/2014/main" id="{265AB6AC-EB56-4A8D-B436-8F60AB45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Diagnostic validation: 52.27% accuracy | 57.53% F1 | 48.55% ROC-AUC</a:t>
            </a:r>
          </a:p>
        </p:txBody>
      </p:sp>
    </p:spTree>
    <p:extLst>
      <p:ext uri="{BB962C8B-B14F-4D97-AF65-F5344CB8AC3E}">
        <p14:creationId xmlns:p14="http://schemas.microsoft.com/office/powerpoint/2010/main" val="21363061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10">
            <a:extLst xmlns:a="http://schemas.openxmlformats.org/drawingml/2006/main">
              <a:ext uri="{FF2B5EF4-FFF2-40B4-BE49-F238E27FC236}">
                <a16:creationId xmlns:a16="http://schemas.microsoft.com/office/drawing/2014/main" id="{22D804F8-1AFC-405E-9F47-AEE79759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14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final model found only a weak directional signal</a:t>
            </a:r>
          </a:p>
        </p:txBody>
      </p:sp>
      <p:sp>
        <p:nvSpPr>
          <p:cNvPr id="2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A3D34784-C737-4C67-9640-EFF0CF12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footer-10">
            <a:extLst xmlns:a="http://schemas.openxmlformats.org/drawingml/2006/main">
              <a:ext uri="{FF2B5EF4-FFF2-40B4-BE49-F238E27FC236}">
                <a16:creationId xmlns:a16="http://schemas.microsoft.com/office/drawing/2014/main" id="{B1859600-BE4A-428A-AFDC-8AC2B113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44CF1872-D422-4044-B563-EB6B61FD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AAPL MARKET MOVEMENT PREDICTION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00050" y="1476375"/>
          <a:ext xmlns:a="http://schemas.openxmlformats.org/drawingml/2006/main" cx="57150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901e83fbbe4b8a"/>
          </a:graphicData>
        </a:graphic>
      </p:graphicFrame>
      <p:sp>
        <p:nvSpPr>
          <p:cNvPr id="6" name="test-base-panel">
            <a:extLst xmlns:a="http://schemas.openxmlformats.org/drawingml/2006/main">
              <a:ext uri="{FF2B5EF4-FFF2-40B4-BE49-F238E27FC236}">
                <a16:creationId xmlns:a16="http://schemas.microsoft.com/office/drawing/2014/main" id="{13AC8934-1A5B-4893-878B-CCBE9CC3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53244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st-base-accent">
            <a:extLst xmlns:a="http://schemas.openxmlformats.org/drawingml/2006/main">
              <a:ext uri="{FF2B5EF4-FFF2-40B4-BE49-F238E27FC236}">
                <a16:creationId xmlns:a16="http://schemas.microsoft.com/office/drawing/2014/main" id="{9D66D936-38DE-4EDB-8A75-B5F019BE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st-base-title">
            <a:extLst xmlns:a="http://schemas.openxmlformats.org/drawingml/2006/main">
              <a:ext uri="{FF2B5EF4-FFF2-40B4-BE49-F238E27FC236}">
                <a16:creationId xmlns:a16="http://schemas.microsoft.com/office/drawing/2014/main" id="{315CFA36-289D-460E-ACBE-CA110DEB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52575"/>
            <a:ext cx="4867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Accuracy = baseline</a:t>
            </a:r>
          </a:p>
        </p:txBody>
      </p:sp>
      <p:sp>
        <p:nvSpPr>
          <p:cNvPr id="9" name="test-base-body">
            <a:extLst xmlns:a="http://schemas.openxmlformats.org/drawingml/2006/main">
              <a:ext uri="{FF2B5EF4-FFF2-40B4-BE49-F238E27FC236}">
                <a16:creationId xmlns:a16="http://schemas.microsoft.com/office/drawing/2014/main" id="{0F30ED98-C339-46D9-A7AA-B3CF20E4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33575"/>
            <a:ext cx="48672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55.42% accuracy matched the majority-class benchmark.</a:t>
            </a:r>
          </a:p>
        </p:txBody>
      </p:sp>
      <p:sp>
        <p:nvSpPr>
          <p:cNvPr id="10" name="test-cm-panel">
            <a:extLst xmlns:a="http://schemas.openxmlformats.org/drawingml/2006/main">
              <a:ext uri="{FF2B5EF4-FFF2-40B4-BE49-F238E27FC236}">
                <a16:creationId xmlns:a16="http://schemas.microsoft.com/office/drawing/2014/main" id="{BE96A354-FF5D-458F-BFA0-D2AB176A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38475"/>
            <a:ext cx="53244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st-cm-accent">
            <a:extLst xmlns:a="http://schemas.openxmlformats.org/drawingml/2006/main">
              <a:ext uri="{FF2B5EF4-FFF2-40B4-BE49-F238E27FC236}">
                <a16:creationId xmlns:a16="http://schemas.microsoft.com/office/drawing/2014/main" id="{1B684B90-B5F3-434F-989D-70B4D92D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38475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st-cm-title">
            <a:extLst xmlns:a="http://schemas.openxmlformats.org/drawingml/2006/main">
              <a:ext uri="{FF2B5EF4-FFF2-40B4-BE49-F238E27FC236}">
                <a16:creationId xmlns:a16="http://schemas.microsoft.com/office/drawing/2014/main" id="{CE974AF5-1AA2-4E88-A6B0-2DD38A2E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9925"/>
            <a:ext cx="4867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63 TN | 85 FP | 63 FN | 121 TP</a:t>
            </a:r>
          </a:p>
        </p:txBody>
      </p:sp>
      <p:sp>
        <p:nvSpPr>
          <p:cNvPr id="13" name="test-cm-body">
            <a:extLst xmlns:a="http://schemas.openxmlformats.org/drawingml/2006/main">
              <a:ext uri="{FF2B5EF4-FFF2-40B4-BE49-F238E27FC236}">
                <a16:creationId xmlns:a16="http://schemas.microsoft.com/office/drawing/2014/main" id="{738E166D-85E5-4298-96F0-AAC8FB96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90925"/>
            <a:ext cx="48672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The classifier favored upward predictions and reached 65.76% up-day recall.</a:t>
            </a:r>
          </a:p>
        </p:txBody>
      </p:sp>
      <p:sp>
        <p:nvSpPr>
          <p:cNvPr id="14" name="test-auc-panel">
            <a:extLst xmlns:a="http://schemas.openxmlformats.org/drawingml/2006/main">
              <a:ext uri="{FF2B5EF4-FFF2-40B4-BE49-F238E27FC236}">
                <a16:creationId xmlns:a16="http://schemas.microsoft.com/office/drawing/2014/main" id="{EB0C1E3A-A19B-4A1D-841F-AB27E9CA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95825"/>
            <a:ext cx="53244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st-auc-accent">
            <a:extLst xmlns:a="http://schemas.openxmlformats.org/drawingml/2006/main">
              <a:ext uri="{FF2B5EF4-FFF2-40B4-BE49-F238E27FC236}">
                <a16:creationId xmlns:a16="http://schemas.microsoft.com/office/drawing/2014/main" id="{0242F853-9581-4724-ADDC-B48DDCD1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95825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st-auc-title">
            <a:extLst xmlns:a="http://schemas.openxmlformats.org/drawingml/2006/main">
              <a:ext uri="{FF2B5EF4-FFF2-40B4-BE49-F238E27FC236}">
                <a16:creationId xmlns:a16="http://schemas.microsoft.com/office/drawing/2014/main" id="{279B68C5-6C99-4890-BD0B-2FDD4F5B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67275"/>
            <a:ext cx="4867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ROC-AUC = 53.82%</a:t>
            </a:r>
          </a:p>
        </p:txBody>
      </p:sp>
      <p:sp>
        <p:nvSpPr>
          <p:cNvPr id="17" name="test-auc-body">
            <a:extLst xmlns:a="http://schemas.openxmlformats.org/drawingml/2006/main">
              <a:ext uri="{FF2B5EF4-FFF2-40B4-BE49-F238E27FC236}">
                <a16:creationId xmlns:a16="http://schemas.microsoft.com/office/drawing/2014/main" id="{04E84308-F7E1-4B23-B5F9-3993D79C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48275"/>
            <a:ext cx="48672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Probability ranking was only modestly above random chance.</a:t>
            </a:r>
          </a:p>
        </p:txBody>
      </p:sp>
    </p:spTree>
    <p:extLst>
      <p:ext uri="{BB962C8B-B14F-4D97-AF65-F5344CB8AC3E}">
        <p14:creationId xmlns:p14="http://schemas.microsoft.com/office/powerpoint/2010/main" val="11796403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1">
            <a:extLst xmlns:a="http://schemas.openxmlformats.org/drawingml/2006/main">
              <a:ext uri="{FF2B5EF4-FFF2-40B4-BE49-F238E27FC236}">
                <a16:creationId xmlns:a16="http://schemas.microsoft.com/office/drawing/2014/main" id="{0D7E0A10-FB38-44D5-A0AE-7D38B576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14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8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SHAP traced predictions to normalized market position and momentum</a:t>
            </a:r>
          </a:p>
        </p:txBody>
      </p:sp>
      <p:sp>
        <p:nvSpPr>
          <p:cNvPr id="2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8BE5793B-B7A1-4837-B785-17FD1779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footer-11">
            <a:extLst xmlns:a="http://schemas.openxmlformats.org/drawingml/2006/main">
              <a:ext uri="{FF2B5EF4-FFF2-40B4-BE49-F238E27FC236}">
                <a16:creationId xmlns:a16="http://schemas.microsoft.com/office/drawing/2014/main" id="{4A35D9F5-8311-4272-B31E-7CD7F37E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2E0282A3-DD72-4EAF-8676-E18C7E8B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AAPL MARKET MOVEMENT PREDICTION</a:t>
            </a:r>
          </a:p>
        </p:txBody>
      </p:sp>
      <p:sp>
        <p:nvSpPr>
          <p:cNvPr id="5" name="shap-unit">
            <a:extLst xmlns:a="http://schemas.openxmlformats.org/drawingml/2006/main">
              <a:ext uri="{FF2B5EF4-FFF2-40B4-BE49-F238E27FC236}">
                <a16:creationId xmlns:a16="http://schemas.microsoft.com/office/drawing/2014/main" id="{4440C607-43A2-4FB7-8BE0-BDF84F85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Mean |SHAP| (×10⁻³)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400050" y="1524000"/>
          <a:ext xmlns:a="http://schemas.openxmlformats.org/drawingml/2006/main" cx="619125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e651cbf9d1411c"/>
          </a:graphicData>
        </a:graphic>
      </p:graphicFrame>
      <p:sp>
        <p:nvSpPr>
          <p:cNvPr id="7" name="shap-bb-panel">
            <a:extLst xmlns:a="http://schemas.openxmlformats.org/drawingml/2006/main">
              <a:ext uri="{FF2B5EF4-FFF2-40B4-BE49-F238E27FC236}">
                <a16:creationId xmlns:a16="http://schemas.microsoft.com/office/drawing/2014/main" id="{DEE211F4-40E0-44E4-8F20-9E912A63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81125"/>
            <a:ext cx="49434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-bb-accent">
            <a:extLst xmlns:a="http://schemas.openxmlformats.org/drawingml/2006/main">
              <a:ext uri="{FF2B5EF4-FFF2-40B4-BE49-F238E27FC236}">
                <a16:creationId xmlns:a16="http://schemas.microsoft.com/office/drawing/2014/main" id="{E25FF362-6835-45EA-8ED6-EBB0B8AC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81125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-bb-title">
            <a:extLst xmlns:a="http://schemas.openxmlformats.org/drawingml/2006/main">
              <a:ext uri="{FF2B5EF4-FFF2-40B4-BE49-F238E27FC236}">
                <a16:creationId xmlns:a16="http://schemas.microsoft.com/office/drawing/2014/main" id="{2B3C7B91-DF24-4383-991F-3E80634A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52575"/>
            <a:ext cx="4486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BB Position dominated</a:t>
            </a:r>
          </a:p>
        </p:txBody>
      </p:sp>
      <p:sp>
        <p:nvSpPr>
          <p:cNvPr id="10" name="shap-bb-body">
            <a:extLst xmlns:a="http://schemas.openxmlformats.org/drawingml/2006/main">
              <a:ext uri="{FF2B5EF4-FFF2-40B4-BE49-F238E27FC236}">
                <a16:creationId xmlns:a16="http://schemas.microsoft.com/office/drawing/2014/main" id="{75838267-DCEA-44B3-B420-33613172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33575"/>
            <a:ext cx="44862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Its mean absolute SHAP value was 0.242 - more than twice the next feature.</a:t>
            </a:r>
          </a:p>
        </p:txBody>
      </p:sp>
      <p:sp>
        <p:nvSpPr>
          <p:cNvPr id="11" name="shap-momentum-panel">
            <a:extLst xmlns:a="http://schemas.openxmlformats.org/drawingml/2006/main">
              <a:ext uri="{FF2B5EF4-FFF2-40B4-BE49-F238E27FC236}">
                <a16:creationId xmlns:a16="http://schemas.microsoft.com/office/drawing/2014/main" id="{4BFA11D5-B802-46B3-A0F6-5490344F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38475"/>
            <a:ext cx="49434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-momentum-accent">
            <a:extLst xmlns:a="http://schemas.openxmlformats.org/drawingml/2006/main">
              <a:ext uri="{FF2B5EF4-FFF2-40B4-BE49-F238E27FC236}">
                <a16:creationId xmlns:a16="http://schemas.microsoft.com/office/drawing/2014/main" id="{183D53E4-E73A-4C0C-86C7-E4D39844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38475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-momentum-title">
            <a:extLst xmlns:a="http://schemas.openxmlformats.org/drawingml/2006/main">
              <a:ext uri="{FF2B5EF4-FFF2-40B4-BE49-F238E27FC236}">
                <a16:creationId xmlns:a16="http://schemas.microsoft.com/office/drawing/2014/main" id="{64772541-FE8D-42B7-AC81-7DD97FB3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09925"/>
            <a:ext cx="4486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Momentum followed</a:t>
            </a:r>
          </a:p>
        </p:txBody>
      </p:sp>
      <p:sp>
        <p:nvSpPr>
          <p:cNvPr id="14" name="shap-momentum-body">
            <a:extLst xmlns:a="http://schemas.openxmlformats.org/drawingml/2006/main">
              <a:ext uri="{FF2B5EF4-FFF2-40B4-BE49-F238E27FC236}">
                <a16:creationId xmlns:a16="http://schemas.microsoft.com/office/drawing/2014/main" id="{017A24AE-AD49-4B4D-98BA-48A475E4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90925"/>
            <a:ext cx="44862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Normalized RSI and daily return were the next strongest influences.</a:t>
            </a:r>
          </a:p>
        </p:txBody>
      </p:sp>
      <p:sp>
        <p:nvSpPr>
          <p:cNvPr id="15" name="shap-caution-panel">
            <a:extLst xmlns:a="http://schemas.openxmlformats.org/drawingml/2006/main">
              <a:ext uri="{FF2B5EF4-FFF2-40B4-BE49-F238E27FC236}">
                <a16:creationId xmlns:a16="http://schemas.microsoft.com/office/drawing/2014/main" id="{9E8CB3AF-4E4C-4E2E-BD0F-30646BE0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95825"/>
            <a:ext cx="49434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hap-caution-accent">
            <a:extLst xmlns:a="http://schemas.openxmlformats.org/drawingml/2006/main">
              <a:ext uri="{FF2B5EF4-FFF2-40B4-BE49-F238E27FC236}">
                <a16:creationId xmlns:a16="http://schemas.microsoft.com/office/drawing/2014/main" id="{45F0EEE6-E39D-42FB-B8F6-CF85A300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95825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ap-caution-title">
            <a:extLst xmlns:a="http://schemas.openxmlformats.org/drawingml/2006/main">
              <a:ext uri="{FF2B5EF4-FFF2-40B4-BE49-F238E27FC236}">
                <a16:creationId xmlns:a16="http://schemas.microsoft.com/office/drawing/2014/main" id="{1DDE7E13-4026-4A2B-ADF5-C57A62E0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67275"/>
            <a:ext cx="4486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Influence is not causality</a:t>
            </a:r>
          </a:p>
        </p:txBody>
      </p:sp>
      <p:sp>
        <p:nvSpPr>
          <p:cNvPr id="18" name="shap-caution-body">
            <a:extLst xmlns:a="http://schemas.openxmlformats.org/drawingml/2006/main">
              <a:ext uri="{FF2B5EF4-FFF2-40B4-BE49-F238E27FC236}">
                <a16:creationId xmlns:a16="http://schemas.microsoft.com/office/drawing/2014/main" id="{1FE4F7DB-FFE9-440B-9F29-F5EB2242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48275"/>
            <a:ext cx="44862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Absolute SHAP magnitude ranks impact; sign is needed for direction.</a:t>
            </a:r>
          </a:p>
        </p:txBody>
      </p:sp>
    </p:spTree>
    <p:extLst>
      <p:ext uri="{BB962C8B-B14F-4D97-AF65-F5344CB8AC3E}">
        <p14:creationId xmlns:p14="http://schemas.microsoft.com/office/powerpoint/2010/main" val="21116007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12">
            <a:extLst xmlns:a="http://schemas.openxmlformats.org/drawingml/2006/main">
              <a:ext uri="{FF2B5EF4-FFF2-40B4-BE49-F238E27FC236}">
                <a16:creationId xmlns:a16="http://schemas.microsoft.com/office/drawing/2014/main" id="{C64594B0-EF15-4ECA-9DF3-E0ACB6D0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14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Sentiment mattered inside the model but hurt generalization</a:t>
            </a:r>
          </a:p>
        </p:txBody>
      </p:sp>
      <p:sp>
        <p:nvSpPr>
          <p:cNvPr id="2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D4551B86-D1A8-4A06-B8D9-3EE4A57A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footer-12">
            <a:extLst xmlns:a="http://schemas.openxmlformats.org/drawingml/2006/main">
              <a:ext uri="{FF2B5EF4-FFF2-40B4-BE49-F238E27FC236}">
                <a16:creationId xmlns:a16="http://schemas.microsoft.com/office/drawing/2014/main" id="{8071EB45-B0FC-45A7-A416-FFB9EF5A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footer-label-12">
            <a:extLst xmlns:a="http://schemas.openxmlformats.org/drawingml/2006/main">
              <a:ext uri="{FF2B5EF4-FFF2-40B4-BE49-F238E27FC236}">
                <a16:creationId xmlns:a16="http://schemas.microsoft.com/office/drawing/2014/main" id="{2B2AADEF-6B41-43D0-A48F-3057AF87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AAPL MARKET MOVEMENT PREDICTION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00050" y="1476375"/>
          <a:ext xmlns:a="http://schemas.openxmlformats.org/drawingml/2006/main" cx="57150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76442f0e344893"/>
          </a:graphicData>
        </a:graphic>
      </p:graphicFrame>
      <p:sp>
        <p:nvSpPr>
          <p:cNvPr id="6" name="abl-share-panel">
            <a:extLst xmlns:a="http://schemas.openxmlformats.org/drawingml/2006/main">
              <a:ext uri="{FF2B5EF4-FFF2-40B4-BE49-F238E27FC236}">
                <a16:creationId xmlns:a16="http://schemas.microsoft.com/office/drawing/2014/main" id="{EF8591BA-44BB-44EA-8DAB-A68E6DA4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53244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bl-share-accent">
            <a:extLst xmlns:a="http://schemas.openxmlformats.org/drawingml/2006/main">
              <a:ext uri="{FF2B5EF4-FFF2-40B4-BE49-F238E27FC236}">
                <a16:creationId xmlns:a16="http://schemas.microsoft.com/office/drawing/2014/main" id="{6C86C49C-41FF-484D-85B0-F9A6989F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bl-share-title">
            <a:extLst xmlns:a="http://schemas.openxmlformats.org/drawingml/2006/main">
              <a:ext uri="{FF2B5EF4-FFF2-40B4-BE49-F238E27FC236}">
                <a16:creationId xmlns:a16="http://schemas.microsoft.com/office/drawing/2014/main" id="{96605E4C-B81C-49EF-A85B-8D0547DC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52575"/>
            <a:ext cx="4867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30.31% SHAP share</a:t>
            </a:r>
          </a:p>
        </p:txBody>
      </p:sp>
      <p:sp>
        <p:nvSpPr>
          <p:cNvPr id="9" name="abl-share-body">
            <a:extLst xmlns:a="http://schemas.openxmlformats.org/drawingml/2006/main">
              <a:ext uri="{FF2B5EF4-FFF2-40B4-BE49-F238E27FC236}">
                <a16:creationId xmlns:a16="http://schemas.microsoft.com/office/drawing/2014/main" id="{78A67747-F030-438A-959F-A8B1AD1C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33575"/>
            <a:ext cx="48672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Sentiment features substantially changed the combined model's output.</a:t>
            </a:r>
          </a:p>
        </p:txBody>
      </p:sp>
      <p:sp>
        <p:nvSpPr>
          <p:cNvPr id="10" name="abl-drop-panel">
            <a:extLst xmlns:a="http://schemas.openxmlformats.org/drawingml/2006/main">
              <a:ext uri="{FF2B5EF4-FFF2-40B4-BE49-F238E27FC236}">
                <a16:creationId xmlns:a16="http://schemas.microsoft.com/office/drawing/2014/main" id="{9B637627-13A9-4EED-AA33-8A0B2B19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38475"/>
            <a:ext cx="53244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bl-drop-accent">
            <a:extLst xmlns:a="http://schemas.openxmlformats.org/drawingml/2006/main">
              <a:ext uri="{FF2B5EF4-FFF2-40B4-BE49-F238E27FC236}">
                <a16:creationId xmlns:a16="http://schemas.microsoft.com/office/drawing/2014/main" id="{1E9E74EC-718F-4B59-BF1B-FC614022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38475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bl-drop-title">
            <a:extLst xmlns:a="http://schemas.openxmlformats.org/drawingml/2006/main">
              <a:ext uri="{FF2B5EF4-FFF2-40B4-BE49-F238E27FC236}">
                <a16:creationId xmlns:a16="http://schemas.microsoft.com/office/drawing/2014/main" id="{DA170A75-BDE8-4442-B8D5-09D09D96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9925"/>
            <a:ext cx="4867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-4.22 accuracy points</a:t>
            </a:r>
          </a:p>
        </p:txBody>
      </p:sp>
      <p:sp>
        <p:nvSpPr>
          <p:cNvPr id="13" name="abl-drop-body">
            <a:extLst xmlns:a="http://schemas.openxmlformats.org/drawingml/2006/main">
              <a:ext uri="{FF2B5EF4-FFF2-40B4-BE49-F238E27FC236}">
                <a16:creationId xmlns:a16="http://schemas.microsoft.com/office/drawing/2014/main" id="{FBE171C0-1B03-4F16-A41F-FEE647BE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90925"/>
            <a:ext cx="48672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The combined candidate fell from 55.42% to 51.20% accuracy.</a:t>
            </a:r>
          </a:p>
        </p:txBody>
      </p:sp>
      <p:sp>
        <p:nvSpPr>
          <p:cNvPr id="14" name="abl-decision-panel">
            <a:extLst xmlns:a="http://schemas.openxmlformats.org/drawingml/2006/main">
              <a:ext uri="{FF2B5EF4-FFF2-40B4-BE49-F238E27FC236}">
                <a16:creationId xmlns:a16="http://schemas.microsoft.com/office/drawing/2014/main" id="{6D96FE5B-EB73-472E-B8D7-E6FE0B3E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95825"/>
            <a:ext cx="53244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bl-decision-accent">
            <a:extLst xmlns:a="http://schemas.openxmlformats.org/drawingml/2006/main">
              <a:ext uri="{FF2B5EF4-FFF2-40B4-BE49-F238E27FC236}">
                <a16:creationId xmlns:a16="http://schemas.microsoft.com/office/drawing/2014/main" id="{EC17763B-986B-4049-9F6F-3FC484AE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95825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bl-decision-title">
            <a:extLst xmlns:a="http://schemas.openxmlformats.org/drawingml/2006/main">
              <a:ext uri="{FF2B5EF4-FFF2-40B4-BE49-F238E27FC236}">
                <a16:creationId xmlns:a16="http://schemas.microsoft.com/office/drawing/2014/main" id="{EAF122C2-2979-40AD-AF27-38AC4F1A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67275"/>
            <a:ext cx="4867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Excluded from final model</a:t>
            </a:r>
          </a:p>
        </p:txBody>
      </p:sp>
      <p:sp>
        <p:nvSpPr>
          <p:cNvPr id="17" name="abl-decision-body">
            <a:extLst xmlns:a="http://schemas.openxmlformats.org/drawingml/2006/main">
              <a:ext uri="{FF2B5EF4-FFF2-40B4-BE49-F238E27FC236}">
                <a16:creationId xmlns:a16="http://schemas.microsoft.com/office/drawing/2014/main" id="{31C8DF30-444E-4DD6-9191-8C146E61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48275"/>
            <a:ext cx="48672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Ablation evidence outweighed within-model feature importance.</a:t>
            </a:r>
          </a:p>
        </p:txBody>
      </p:sp>
    </p:spTree>
    <p:extLst>
      <p:ext uri="{BB962C8B-B14F-4D97-AF65-F5344CB8AC3E}">
        <p14:creationId xmlns:p14="http://schemas.microsoft.com/office/powerpoint/2010/main" val="17154677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3">
            <a:extLst xmlns:a="http://schemas.openxmlformats.org/drawingml/2006/main">
              <a:ext uri="{FF2B5EF4-FFF2-40B4-BE49-F238E27FC236}">
                <a16:creationId xmlns:a16="http://schemas.microsoft.com/office/drawing/2014/main" id="{C709BBD2-6A5E-4F4F-9DC6-218E56B3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14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4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deployed dashboard makes every project layer inspectable</a:t>
            </a:r>
          </a:p>
        </p:txBody>
      </p:sp>
      <p:sp>
        <p:nvSpPr>
          <p:cNvPr id="2" name="title-rule-13">
            <a:extLst xmlns:a="http://schemas.openxmlformats.org/drawingml/2006/main">
              <a:ext uri="{FF2B5EF4-FFF2-40B4-BE49-F238E27FC236}">
                <a16:creationId xmlns:a16="http://schemas.microsoft.com/office/drawing/2014/main" id="{90F7D0B0-B016-4642-8D47-DFF5C724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footer-13">
            <a:extLst xmlns:a="http://schemas.openxmlformats.org/drawingml/2006/main">
              <a:ext uri="{FF2B5EF4-FFF2-40B4-BE49-F238E27FC236}">
                <a16:creationId xmlns:a16="http://schemas.microsoft.com/office/drawing/2014/main" id="{185D56B8-1686-4DDF-9CF1-1CE4B0C4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footer-label-13">
            <a:extLst xmlns:a="http://schemas.openxmlformats.org/drawingml/2006/main">
              <a:ext uri="{FF2B5EF4-FFF2-40B4-BE49-F238E27FC236}">
                <a16:creationId xmlns:a16="http://schemas.microsoft.com/office/drawing/2014/main" id="{1333E4EA-0908-4766-BE87-90D958D4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AAPL MARKET MOVEMENT PREDICTION</a:t>
            </a:r>
          </a:p>
        </p:txBody>
      </p:sp>
      <p:sp>
        <p:nvSpPr>
          <p:cNvPr id="5" name="split-heading-13">
            <a:extLst xmlns:a="http://schemas.openxmlformats.org/drawingml/2006/main">
              <a:ext uri="{FF2B5EF4-FFF2-40B4-BE49-F238E27FC236}">
                <a16:creationId xmlns:a16="http://schemas.microsoft.com/office/drawing/2014/main" id="{35BD4971-5FB0-4BA2-B2DD-98FBE7ED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514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Seven views connect prediction to evidence</a:t>
            </a:r>
          </a:p>
        </p:txBody>
      </p:sp>
      <p:sp>
        <p:nvSpPr>
          <p:cNvPr id="6" name="split-body-13">
            <a:extLst xmlns:a="http://schemas.openxmlformats.org/drawingml/2006/main">
              <a:ext uri="{FF2B5EF4-FFF2-40B4-BE49-F238E27FC236}">
                <a16:creationId xmlns:a16="http://schemas.microsoft.com/office/drawing/2014/main" id="{333348B5-9B1F-4E3C-83AC-2456403F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38450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Overview and market trends</a:t>
            </a:r>
          </a:p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Sentiment history and headline tester</a:t>
            </a:r>
          </a:p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Next-day probability signal</a:t>
            </a:r>
          </a:p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Model metrics and recent predictions</a:t>
            </a:r>
          </a:p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SHAP explainability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Live: raginiboya-financial-market-prediction.streamlit.app</a:t>
            </a:r>
          </a:p>
        </p:txBody>
      </p:sp>
      <p:sp>
        <p:nvSpPr>
          <p:cNvPr id="7" name="image-backing-13">
            <a:extLst xmlns:a="http://schemas.openxmlformats.org/drawingml/2006/main">
              <a:ext uri="{FF2B5EF4-FFF2-40B4-BE49-F238E27FC236}">
                <a16:creationId xmlns:a16="http://schemas.microsoft.com/office/drawing/2014/main" id="{751BBD92-F5AD-45F7-A5CC-41270266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81125"/>
            <a:ext cx="5534025" cy="46482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fe01fdb944a0e"/>
          <a:stretch xmlns:a="http://schemas.openxmlformats.org/drawingml/2006/main"/>
        </p:blipFill>
        <p:spPr>
          <a:xfrm xmlns:a="http://schemas.openxmlformats.org/drawingml/2006/main">
            <a:off x="6400800" y="2490860"/>
            <a:ext cx="5267325" cy="242873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</p:spTree>
    <p:extLst>
      <p:ext uri="{BB962C8B-B14F-4D97-AF65-F5344CB8AC3E}">
        <p14:creationId xmlns:p14="http://schemas.microsoft.com/office/powerpoint/2010/main" val="18157357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14">
            <a:extLst xmlns:a="http://schemas.openxmlformats.org/drawingml/2006/main">
              <a:ext uri="{FF2B5EF4-FFF2-40B4-BE49-F238E27FC236}">
                <a16:creationId xmlns:a16="http://schemas.microsoft.com/office/drawing/2014/main" id="{2B0DC9BA-C0FC-45C4-8B87-89BF762A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14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strongest result is the honest analytical conclusion</a:t>
            </a:r>
          </a:p>
        </p:txBody>
      </p:sp>
      <p:sp>
        <p:nvSpPr>
          <p:cNvPr id="2" name="title-rule-14">
            <a:extLst xmlns:a="http://schemas.openxmlformats.org/drawingml/2006/main">
              <a:ext uri="{FF2B5EF4-FFF2-40B4-BE49-F238E27FC236}">
                <a16:creationId xmlns:a16="http://schemas.microsoft.com/office/drawing/2014/main" id="{2FA31570-1633-4581-97A0-DE137796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footer-14">
            <a:extLst xmlns:a="http://schemas.openxmlformats.org/drawingml/2006/main">
              <a:ext uri="{FF2B5EF4-FFF2-40B4-BE49-F238E27FC236}">
                <a16:creationId xmlns:a16="http://schemas.microsoft.com/office/drawing/2014/main" id="{70986E04-F514-4CE1-9F98-443CA3F3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footer-label-14">
            <a:extLst xmlns:a="http://schemas.openxmlformats.org/drawingml/2006/main">
              <a:ext uri="{FF2B5EF4-FFF2-40B4-BE49-F238E27FC236}">
                <a16:creationId xmlns:a16="http://schemas.microsoft.com/office/drawing/2014/main" id="{3529B4D3-DB0C-4F4A-A785-916C866B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AAPL MARKET MOVEMENT PREDICTION</a:t>
            </a:r>
          </a:p>
        </p:txBody>
      </p:sp>
      <p:sp>
        <p:nvSpPr>
          <p:cNvPr id="5" name="close-claim">
            <a:extLst xmlns:a="http://schemas.openxmlformats.org/drawingml/2006/main">
              <a:ext uri="{FF2B5EF4-FFF2-40B4-BE49-F238E27FC236}">
                <a16:creationId xmlns:a16="http://schemas.microsoft.com/office/drawing/2014/main" id="{2784D681-DB95-4A00-AAFC-EBFAC3C5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71625"/>
            <a:ext cx="55340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Technical features produced a small directional signal. Sentiment influenced predictions, but reduced out-of-sample accuracy.</a:t>
            </a:r>
          </a:p>
        </p:txBody>
      </p:sp>
      <p:sp>
        <p:nvSpPr>
          <p:cNvPr id="6" name="close-detail">
            <a:extLst xmlns:a="http://schemas.openxmlformats.org/drawingml/2006/main">
              <a:ext uri="{FF2B5EF4-FFF2-40B4-BE49-F238E27FC236}">
                <a16:creationId xmlns:a16="http://schemas.microsoft.com/office/drawing/2014/main" id="{98E3A947-0D29-4E5D-A648-F5834494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24250"/>
            <a:ext cx="55340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The project delivered a complete, reproducible pipeline without overstating predictive power. The final model is suitable for education and further research - not live trading.</a:t>
            </a:r>
          </a:p>
        </p:txBody>
      </p:sp>
      <p:sp>
        <p:nvSpPr>
          <p:cNvPr id="7" name="close-dot-0">
            <a:extLst xmlns:a="http://schemas.openxmlformats.org/drawingml/2006/main">
              <a:ext uri="{FF2B5EF4-FFF2-40B4-BE49-F238E27FC236}">
                <a16:creationId xmlns:a16="http://schemas.microsoft.com/office/drawing/2014/main" id="{440E520D-EEC9-4093-8706-7E5EFA80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09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ABDE32A9-8B15-4A8D-94B6-8F7E612D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3362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Walk-forward validation</a:t>
            </a:r>
          </a:p>
        </p:txBody>
      </p:sp>
      <p:sp>
        <p:nvSpPr>
          <p:cNvPr id="9" name="close-dot-1">
            <a:extLst xmlns:a="http://schemas.openxmlformats.org/drawingml/2006/main">
              <a:ext uri="{FF2B5EF4-FFF2-40B4-BE49-F238E27FC236}">
                <a16:creationId xmlns:a16="http://schemas.microsoft.com/office/drawing/2014/main" id="{2D722EAC-5D52-4F18-9A9B-D9B9FA12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95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215E19A6-8B75-4551-9E90-B89F47F9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1942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Timestamp-aware news alignment</a:t>
            </a:r>
          </a:p>
        </p:txBody>
      </p:sp>
      <p:sp>
        <p:nvSpPr>
          <p:cNvPr id="11" name="close-dot-2">
            <a:extLst xmlns:a="http://schemas.openxmlformats.org/drawingml/2006/main">
              <a:ext uri="{FF2B5EF4-FFF2-40B4-BE49-F238E27FC236}">
                <a16:creationId xmlns:a16="http://schemas.microsoft.com/office/drawing/2014/main" id="{11FB0BA1-11BB-4457-856B-491DE65E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814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0ACE7DC5-BB4B-4BD4-844E-D34A6E8A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0522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Probability calibration</a:t>
            </a:r>
          </a:p>
        </p:txBody>
      </p:sp>
      <p:sp>
        <p:nvSpPr>
          <p:cNvPr id="13" name="close-dot-3">
            <a:extLst xmlns:a="http://schemas.openxmlformats.org/drawingml/2006/main">
              <a:ext uri="{FF2B5EF4-FFF2-40B4-BE49-F238E27FC236}">
                <a16:creationId xmlns:a16="http://schemas.microsoft.com/office/drawing/2014/main" id="{87047901-1B0E-41BF-9885-D851B7A8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67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lose-label-3">
            <a:extLst xmlns:a="http://schemas.openxmlformats.org/drawingml/2006/main">
              <a:ext uri="{FF2B5EF4-FFF2-40B4-BE49-F238E27FC236}">
                <a16:creationId xmlns:a16="http://schemas.microsoft.com/office/drawing/2014/main" id="{8CAF0602-6246-49C1-9C9D-36B1905A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9102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Multi-asset evaluation</a:t>
            </a:r>
          </a:p>
        </p:txBody>
      </p:sp>
      <p:sp>
        <p:nvSpPr>
          <p:cNvPr id="15" name="close-dot-4">
            <a:extLst xmlns:a="http://schemas.openxmlformats.org/drawingml/2006/main">
              <a:ext uri="{FF2B5EF4-FFF2-40B4-BE49-F238E27FC236}">
                <a16:creationId xmlns:a16="http://schemas.microsoft.com/office/drawing/2014/main" id="{B21FFCA9-B898-4DC9-8EF8-F226A1F8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530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ose-label-4">
            <a:extLst xmlns:a="http://schemas.openxmlformats.org/drawingml/2006/main">
              <a:ext uri="{FF2B5EF4-FFF2-40B4-BE49-F238E27FC236}">
                <a16:creationId xmlns:a16="http://schemas.microsoft.com/office/drawing/2014/main" id="{45550C59-2CD4-43DB-87E4-3EF5C732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7682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Backtesting with costs and risk limits</a:t>
            </a:r>
          </a:p>
        </p:txBody>
      </p:sp>
    </p:spTree>
    <p:extLst>
      <p:ext uri="{BB962C8B-B14F-4D97-AF65-F5344CB8AC3E}">
        <p14:creationId xmlns:p14="http://schemas.microsoft.com/office/powerpoint/2010/main" val="1952921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2026-08-30T19:48:50.5900000Z</dcterms:created>
  <dcterms:modified xsi:type="dcterms:W3CDTF">2026-08-30T19:48:50.5900000Z</dcterms:modified>
</coreProperties>
</file>